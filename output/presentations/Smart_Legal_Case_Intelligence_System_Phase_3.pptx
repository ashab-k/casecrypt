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2f82ea93d444e3" /><Relationship Type="http://schemas.openxmlformats.org/officeDocument/2006/relationships/extended-properties" Target="/docProps/app.xml" Id="R70a6ce2c26e941f0" /><Relationship Type="http://schemas.openxmlformats.org/officeDocument/2006/relationships/officeDocument" Target="/ppt/presentation.xml" Id="R40b85a071fe140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4d86219e44d87"/>
  </p:sldMasterIdLst>
  <p:notesMasterIdLst>
    <p:notesMasterId xmlns:r="http://schemas.openxmlformats.org/officeDocument/2006/relationships" r:id="Re657ba87487b418a"/>
  </p:notesMasterIdLst>
  <p:sldIdLst>
    <p:sldId xmlns:r="http://schemas.openxmlformats.org/officeDocument/2006/relationships" id="256" r:id="R738383966a954e37"/>
    <p:sldId xmlns:r="http://schemas.openxmlformats.org/officeDocument/2006/relationships" id="257" r:id="R7ec96775af804796"/>
    <p:sldId xmlns:r="http://schemas.openxmlformats.org/officeDocument/2006/relationships" id="258" r:id="R92fa97f4ff4745ff"/>
    <p:sldId xmlns:r="http://schemas.openxmlformats.org/officeDocument/2006/relationships" id="259" r:id="R8bc2b24773ca4c79"/>
    <p:sldId xmlns:r="http://schemas.openxmlformats.org/officeDocument/2006/relationships" id="260" r:id="Rd55a6abb24eb4df3"/>
    <p:sldId xmlns:r="http://schemas.openxmlformats.org/officeDocument/2006/relationships" id="261" r:id="R27e8fbfac5524473"/>
    <p:sldId xmlns:r="http://schemas.openxmlformats.org/officeDocument/2006/relationships" id="262" r:id="R59eff0a1e78d4ec1"/>
    <p:sldId xmlns:r="http://schemas.openxmlformats.org/officeDocument/2006/relationships" id="263" r:id="Ra796cb01dcc64a75"/>
    <p:sldId xmlns:r="http://schemas.openxmlformats.org/officeDocument/2006/relationships" id="264" r:id="R5694a853385f4435"/>
    <p:sldId xmlns:r="http://schemas.openxmlformats.org/officeDocument/2006/relationships" id="265" r:id="R6e77ebd5df1d4551"/>
    <p:sldId xmlns:r="http://schemas.openxmlformats.org/officeDocument/2006/relationships" id="266" r:id="R9b97c509b77740ce"/>
    <p:sldId xmlns:r="http://schemas.openxmlformats.org/officeDocument/2006/relationships" id="267" r:id="R462841af81454d8d"/>
    <p:sldId xmlns:r="http://schemas.openxmlformats.org/officeDocument/2006/relationships" id="268" r:id="R76da87fa9ac240b1"/>
    <p:sldId xmlns:r="http://schemas.openxmlformats.org/officeDocument/2006/relationships" id="269" r:id="R716e498d76b74fae"/>
    <p:sldId xmlns:r="http://schemas.openxmlformats.org/officeDocument/2006/relationships" id="270" r:id="Rf62b3489f8f74dcf"/>
    <p:sldId xmlns:r="http://schemas.openxmlformats.org/officeDocument/2006/relationships" id="271" r:id="Rca03f0db99fe4599"/>
    <p:sldId xmlns:r="http://schemas.openxmlformats.org/officeDocument/2006/relationships" id="272" r:id="R05e30d9cc877405e"/>
    <p:sldId xmlns:r="http://schemas.openxmlformats.org/officeDocument/2006/relationships" id="273" r:id="Rdd109b01ba2e4a8c"/>
    <p:sldId xmlns:r="http://schemas.openxmlformats.org/officeDocument/2006/relationships" id="274" r:id="R991f718050c94747"/>
    <p:sldId xmlns:r="http://schemas.openxmlformats.org/officeDocument/2006/relationships" id="275" r:id="Ra6efa4c5030b434d"/>
    <p:sldId xmlns:r="http://schemas.openxmlformats.org/officeDocument/2006/relationships" id="276" r:id="R206d1e8f8b7d4e59"/>
    <p:sldId xmlns:r="http://schemas.openxmlformats.org/officeDocument/2006/relationships" id="277" r:id="Raff156bc510b406f"/>
    <p:sldId xmlns:r="http://schemas.openxmlformats.org/officeDocument/2006/relationships" id="278" r:id="Ra466643445c84070"/>
    <p:sldId xmlns:r="http://schemas.openxmlformats.org/officeDocument/2006/relationships" id="279" r:id="R8a75461b26c04522"/>
    <p:sldId xmlns:r="http://schemas.openxmlformats.org/officeDocument/2006/relationships" id="280" r:id="R5c16defe72ca4b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82ae6c4b4443b" /><Relationship Type="http://schemas.openxmlformats.org/officeDocument/2006/relationships/slideMaster" Target="/ppt/slideMasters/slideMaster1.xml" Id="R56c4d86219e44d87" /><Relationship Type="http://schemas.openxmlformats.org/officeDocument/2006/relationships/notesMaster" Target="/ppt/notesMasters/notesMaster1.xml" Id="Re657ba87487b418a" /><Relationship Type="http://schemas.openxmlformats.org/officeDocument/2006/relationships/presProps" Target="/ppt/presProps.xml" Id="Radd0a4fc8bdb42de" /><Relationship Type="http://schemas.openxmlformats.org/officeDocument/2006/relationships/tableStyles" Target="/ppt/tableStyles.xml" Id="Rf783a0d123b64fd0" /><Relationship Type="http://schemas.openxmlformats.org/officeDocument/2006/relationships/slide" Target="/ppt/slides/slide1.xml" Id="R738383966a954e37" /><Relationship Type="http://schemas.openxmlformats.org/officeDocument/2006/relationships/slide" Target="/ppt/slides/slide2.xml" Id="R7ec96775af804796" /><Relationship Type="http://schemas.openxmlformats.org/officeDocument/2006/relationships/slide" Target="/ppt/slides/slide3.xml" Id="R92fa97f4ff4745ff" /><Relationship Type="http://schemas.openxmlformats.org/officeDocument/2006/relationships/slide" Target="/ppt/slides/slide4.xml" Id="R8bc2b24773ca4c79" /><Relationship Type="http://schemas.openxmlformats.org/officeDocument/2006/relationships/slide" Target="/ppt/slides/slide5.xml" Id="Rd55a6abb24eb4df3" /><Relationship Type="http://schemas.openxmlformats.org/officeDocument/2006/relationships/slide" Target="/ppt/slides/slide6.xml" Id="R27e8fbfac5524473" /><Relationship Type="http://schemas.openxmlformats.org/officeDocument/2006/relationships/slide" Target="/ppt/slides/slide7.xml" Id="R59eff0a1e78d4ec1" /><Relationship Type="http://schemas.openxmlformats.org/officeDocument/2006/relationships/slide" Target="/ppt/slides/slide8.xml" Id="Ra796cb01dcc64a75" /><Relationship Type="http://schemas.openxmlformats.org/officeDocument/2006/relationships/slide" Target="/ppt/slides/slide9.xml" Id="R5694a853385f4435" /><Relationship Type="http://schemas.openxmlformats.org/officeDocument/2006/relationships/slide" Target="/ppt/slides/slide10.xml" Id="R6e77ebd5df1d4551" /><Relationship Type="http://schemas.openxmlformats.org/officeDocument/2006/relationships/slide" Target="/ppt/slides/slide11.xml" Id="R9b97c509b77740ce" /><Relationship Type="http://schemas.openxmlformats.org/officeDocument/2006/relationships/slide" Target="/ppt/slides/slide12.xml" Id="R462841af81454d8d" /><Relationship Type="http://schemas.openxmlformats.org/officeDocument/2006/relationships/slide" Target="/ppt/slides/slide13.xml" Id="R76da87fa9ac240b1" /><Relationship Type="http://schemas.openxmlformats.org/officeDocument/2006/relationships/slide" Target="/ppt/slides/slide14.xml" Id="R716e498d76b74fae" /><Relationship Type="http://schemas.openxmlformats.org/officeDocument/2006/relationships/slide" Target="/ppt/slides/slide15.xml" Id="Rf62b3489f8f74dcf" /><Relationship Type="http://schemas.openxmlformats.org/officeDocument/2006/relationships/slide" Target="/ppt/slides/slide16.xml" Id="Rca03f0db99fe4599" /><Relationship Type="http://schemas.openxmlformats.org/officeDocument/2006/relationships/slide" Target="/ppt/slides/slide17.xml" Id="R05e30d9cc877405e" /><Relationship Type="http://schemas.openxmlformats.org/officeDocument/2006/relationships/slide" Target="/ppt/slides/slide18.xml" Id="Rdd109b01ba2e4a8c" /><Relationship Type="http://schemas.openxmlformats.org/officeDocument/2006/relationships/slide" Target="/ppt/slides/slide19.xml" Id="R991f718050c94747" /><Relationship Type="http://schemas.openxmlformats.org/officeDocument/2006/relationships/slide" Target="/ppt/slides/slide20.xml" Id="Ra6efa4c5030b434d" /><Relationship Type="http://schemas.openxmlformats.org/officeDocument/2006/relationships/slide" Target="/ppt/slides/slide21.xml" Id="R206d1e8f8b7d4e59" /><Relationship Type="http://schemas.openxmlformats.org/officeDocument/2006/relationships/slide" Target="/ppt/slides/slide22.xml" Id="Raff156bc510b406f" /><Relationship Type="http://schemas.openxmlformats.org/officeDocument/2006/relationships/slide" Target="/ppt/slides/slide23.xml" Id="Ra466643445c84070" /><Relationship Type="http://schemas.openxmlformats.org/officeDocument/2006/relationships/slide" Target="/ppt/slides/slide24.xml" Id="R8a75461b26c04522" /><Relationship Type="http://schemas.openxmlformats.org/officeDocument/2006/relationships/slide" Target="/ppt/slides/slide25.xml" Id="R5c16defe72ca4b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3a75728ed143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1122e1b154727" /><Relationship Type="http://schemas.openxmlformats.org/officeDocument/2006/relationships/notesMaster" Target="/ppt/notesMasters/notesMaster1.xml" Id="R20310d3bd21b49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ec4ec031b4160" /><Relationship Type="http://schemas.openxmlformats.org/officeDocument/2006/relationships/notesMaster" Target="/ppt/notesMasters/notesMaster1.xml" Id="R1e4882aaebea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1509930252484d" /><Relationship Type="http://schemas.openxmlformats.org/officeDocument/2006/relationships/notesMaster" Target="/ppt/notesMasters/notesMaster1.xml" Id="Rf3ed2a800b91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6b62874a6346b5" /><Relationship Type="http://schemas.openxmlformats.org/officeDocument/2006/relationships/notesMaster" Target="/ppt/notesMasters/notesMaster1.xml" Id="R26990c72d35244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481b8db0144c31" /><Relationship Type="http://schemas.openxmlformats.org/officeDocument/2006/relationships/notesMaster" Target="/ppt/notesMasters/notesMaster1.xml" Id="Rb6108d05da0c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90d0c5e024ea9" /><Relationship Type="http://schemas.openxmlformats.org/officeDocument/2006/relationships/notesMaster" Target="/ppt/notesMasters/notesMaster1.xml" Id="Rb5b81d4308f14f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797b0cb2d40e5" /><Relationship Type="http://schemas.openxmlformats.org/officeDocument/2006/relationships/notesMaster" Target="/ppt/notesMasters/notesMaster1.xml" Id="R58611490cc9c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159add3eda48e2" /><Relationship Type="http://schemas.openxmlformats.org/officeDocument/2006/relationships/notesMaster" Target="/ppt/notesMasters/notesMaster1.xml" Id="R3525908ae2b440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4f801e4dee43fb" /><Relationship Type="http://schemas.openxmlformats.org/officeDocument/2006/relationships/notesMaster" Target="/ppt/notesMasters/notesMaster1.xml" Id="R452aca005a7746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9d1733ac834ca2" /><Relationship Type="http://schemas.openxmlformats.org/officeDocument/2006/relationships/notesMaster" Target="/ppt/notesMasters/notesMaster1.xml" Id="R8b79b9a5d50940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444c5868f94f44" /><Relationship Type="http://schemas.openxmlformats.org/officeDocument/2006/relationships/notesMaster" Target="/ppt/notesMasters/notesMaster1.xml" Id="R127027990b334b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87180ae7ca4aaa" /><Relationship Type="http://schemas.openxmlformats.org/officeDocument/2006/relationships/notesMaster" Target="/ppt/notesMasters/notesMaster1.xml" Id="Rfe265f7c1e3e49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692bf20f864620" /><Relationship Type="http://schemas.openxmlformats.org/officeDocument/2006/relationships/notesMaster" Target="/ppt/notesMasters/notesMaster1.xml" Id="R7b581abd4a5d49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0db13eb1cf4793" /><Relationship Type="http://schemas.openxmlformats.org/officeDocument/2006/relationships/notesMaster" Target="/ppt/notesMasters/notesMaster1.xml" Id="Rd49d333638934c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02e6fcc9384fb2" /><Relationship Type="http://schemas.openxmlformats.org/officeDocument/2006/relationships/notesMaster" Target="/ppt/notesMasters/notesMaster1.xml" Id="Rd53b866ef2ca40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78352cdff244a5" /><Relationship Type="http://schemas.openxmlformats.org/officeDocument/2006/relationships/notesMaster" Target="/ppt/notesMasters/notesMaster1.xml" Id="Rb61a187bea4248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a3d06156744227" /><Relationship Type="http://schemas.openxmlformats.org/officeDocument/2006/relationships/notesMaster" Target="/ppt/notesMasters/notesMaster1.xml" Id="R1932692064ab43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33db51e9004f1a" /><Relationship Type="http://schemas.openxmlformats.org/officeDocument/2006/relationships/notesMaster" Target="/ppt/notesMasters/notesMaster1.xml" Id="R3e7e876ef9734f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451373430c4399" /><Relationship Type="http://schemas.openxmlformats.org/officeDocument/2006/relationships/notesMaster" Target="/ppt/notesMasters/notesMaster1.xml" Id="R495fbb43d8f64c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8a739df08242f5" /><Relationship Type="http://schemas.openxmlformats.org/officeDocument/2006/relationships/notesMaster" Target="/ppt/notesMasters/notesMaster1.xml" Id="R49aeccc1bb4b48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d1f05cac734a62" /><Relationship Type="http://schemas.openxmlformats.org/officeDocument/2006/relationships/notesMaster" Target="/ppt/notesMasters/notesMaster1.xml" Id="R1d7846bd3a7047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7d929967c9497f" /><Relationship Type="http://schemas.openxmlformats.org/officeDocument/2006/relationships/notesMaster" Target="/ppt/notesMasters/notesMaster1.xml" Id="R3bac8aff78c641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22a3c1dd9d4b95" /><Relationship Type="http://schemas.openxmlformats.org/officeDocument/2006/relationships/notesMaster" Target="/ppt/notesMasters/notesMaster1.xml" Id="R207d01f922c746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221a3315c140a2" /><Relationship Type="http://schemas.openxmlformats.org/officeDocument/2006/relationships/notesMaster" Target="/ppt/notesMasters/notesMaster1.xml" Id="R33223de803b244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eec623ba04f46f5" /><Relationship Type="http://schemas.openxmlformats.org/officeDocument/2006/relationships/notesMaster" Target="/ppt/notesMasters/notesMaster1.xml" Id="R8d9905d754af4c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Title follows the user-supplied project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project phase documentation (Phases 1–3), backend routers and services, frontend research workspace. Review date: 29 October 2026.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728824ade44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cea393e5346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cac3bf2f94b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60ae04c314a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624bde98448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92efe2198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1F05F-23E0-4FAA-840D-F0CB59DB2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405E1B-29FA-4C1C-BF80-5EB6AFCBC5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CD9DE5-C835-46DF-9CF5-CA1224FDE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3E0D24-DDB3-4741-9821-0F12B9FA7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6C0FD6-CB7F-41C0-9E36-EF84E0BC8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7BDB77-8BA6-48E0-83C4-F9FDD7309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3063B9-17E4-4CC9-9D1F-AB614A0114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A41D45-42EA-4F18-83C2-7812EF709B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53CCC-D1E2-4D21-AFD6-229750F8D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4C024-B9BF-44D8-A53A-FC61BD3A2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69a23623440f4" /><Relationship Type="http://schemas.openxmlformats.org/officeDocument/2006/relationships/slideLayout" Target="/ppt/slideLayouts/slideLayout1.xml" Id="Rf15682fa15244e18" /><Relationship Type="http://schemas.openxmlformats.org/officeDocument/2006/relationships/slideLayout" Target="/ppt/slideLayouts/slideLayout2.xml" Id="R5c70d0ceb74e4241" /><Relationship Type="http://schemas.openxmlformats.org/officeDocument/2006/relationships/slideLayout" Target="/ppt/slideLayouts/slideLayout3.xml" Id="R590b346a12094a8b" /><Relationship Type="http://schemas.openxmlformats.org/officeDocument/2006/relationships/slideLayout" Target="/ppt/slideLayouts/slideLayout4.xml" Id="Ra311406dea7c4937" /><Relationship Type="http://schemas.openxmlformats.org/officeDocument/2006/relationships/slideLayout" Target="/ppt/slideLayouts/slideLayout5.xml" Id="Rb69fbb4796194c62" /><Relationship Type="http://schemas.openxmlformats.org/officeDocument/2006/relationships/slideLayout" Target="/ppt/slideLayouts/slideLayout6.xml" Id="Rb16dc20f7885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682fa15244e18"/>
    <p:sldLayoutId xmlns:r="http://schemas.openxmlformats.org/officeDocument/2006/relationships" id="2147483650" r:id="R5c70d0ceb74e4241"/>
    <p:sldLayoutId xmlns:r="http://schemas.openxmlformats.org/officeDocument/2006/relationships" id="2147483651" r:id="R590b346a12094a8b"/>
    <p:sldLayoutId xmlns:r="http://schemas.openxmlformats.org/officeDocument/2006/relationships" id="2147483652" r:id="Ra311406dea7c4937"/>
    <p:sldLayoutId xmlns:r="http://schemas.openxmlformats.org/officeDocument/2006/relationships" id="2147483653" r:id="Rb69fbb4796194c62"/>
    <p:sldLayoutId xmlns:r="http://schemas.openxmlformats.org/officeDocument/2006/relationships" id="2147483654" r:id="Rb16dc20f7885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22b4f54cf49e7" /><Relationship Type="http://schemas.openxmlformats.org/officeDocument/2006/relationships/notesSlide" Target="/ppt/notesSlides/notesSlide1.xml" Id="R0bc72546dce4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cd660b0f9464a" /><Relationship Type="http://schemas.openxmlformats.org/officeDocument/2006/relationships/notesSlide" Target="/ppt/notesSlides/notesSlide2.xml" Id="Rb21f4cf6995c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498dd60f544ad" /><Relationship Type="http://schemas.openxmlformats.org/officeDocument/2006/relationships/notesSlide" Target="/ppt/notesSlides/notesSlide3.xml" Id="R53eba668df6f4a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61f12eb6564d2d" /><Relationship Type="http://schemas.openxmlformats.org/officeDocument/2006/relationships/notesSlide" Target="/ppt/notesSlides/notesSlide4.xml" Id="Rc1bf9760bf8842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0dabbb0f4458d" /><Relationship Type="http://schemas.openxmlformats.org/officeDocument/2006/relationships/notesSlide" Target="/ppt/notesSlides/notesSlide5.xml" Id="R7ae5c20e47f34e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7abd558444612" /><Relationship Type="http://schemas.openxmlformats.org/officeDocument/2006/relationships/notesSlide" Target="/ppt/notesSlides/notesSlide6.xml" Id="R36edff4bc40e4d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b055cddb34ac0" /><Relationship Type="http://schemas.openxmlformats.org/officeDocument/2006/relationships/notesSlide" Target="/ppt/notesSlides/notesSlide7.xml" Id="R16bbeda33d6840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49d7b4dbf4cf3" /><Relationship Type="http://schemas.openxmlformats.org/officeDocument/2006/relationships/notesSlide" Target="/ppt/notesSlides/notesSlide8.xml" Id="R7aeb25a29b3345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1b91bf9a349e5" /><Relationship Type="http://schemas.openxmlformats.org/officeDocument/2006/relationships/notesSlide" Target="/ppt/notesSlides/notesSlide9.xml" Id="Rf27978cf426545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07c379d6f4212" /><Relationship Type="http://schemas.openxmlformats.org/officeDocument/2006/relationships/notesSlide" Target="/ppt/notesSlides/notesSlide10.xml" Id="Rbbed53ea95d94c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3ef80387c4cf2" /><Relationship Type="http://schemas.openxmlformats.org/officeDocument/2006/relationships/notesSlide" Target="/ppt/notesSlides/notesSlide11.xml" Id="R332db24d3f8f41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9312c9d3245fd" /><Relationship Type="http://schemas.openxmlformats.org/officeDocument/2006/relationships/notesSlide" Target="/ppt/notesSlides/notesSlide12.xml" Id="R159a6db4925445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abe6d562d4837" /><Relationship Type="http://schemas.openxmlformats.org/officeDocument/2006/relationships/notesSlide" Target="/ppt/notesSlides/notesSlide13.xml" Id="R918ba1b4666742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57a8940aa4c25" /><Relationship Type="http://schemas.openxmlformats.org/officeDocument/2006/relationships/notesSlide" Target="/ppt/notesSlides/notesSlide14.xml" Id="R557bd285551848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1c63cab3f4c6b" /><Relationship Type="http://schemas.openxmlformats.org/officeDocument/2006/relationships/notesSlide" Target="/ppt/notesSlides/notesSlide15.xml" Id="R2b17b776045641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a7ec07f7d48a6" /><Relationship Type="http://schemas.openxmlformats.org/officeDocument/2006/relationships/notesSlide" Target="/ppt/notesSlides/notesSlide16.xml" Id="Rbc3ba34be69748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2c492f84c4a10" /><Relationship Type="http://schemas.openxmlformats.org/officeDocument/2006/relationships/notesSlide" Target="/ppt/notesSlides/notesSlide17.xml" Id="R411db3e3e64c4f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b505db2e04645" /><Relationship Type="http://schemas.openxmlformats.org/officeDocument/2006/relationships/notesSlide" Target="/ppt/notesSlides/notesSlide18.xml" Id="R72ec2d5c66a14e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4545d492a4577" /><Relationship Type="http://schemas.openxmlformats.org/officeDocument/2006/relationships/notesSlide" Target="/ppt/notesSlides/notesSlide19.xml" Id="R8d5236cd76b343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ccb9a6479438b" /><Relationship Type="http://schemas.openxmlformats.org/officeDocument/2006/relationships/notesSlide" Target="/ppt/notesSlides/notesSlide20.xml" Id="Re990da2be54043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ff6145e7e4ad2" /><Relationship Type="http://schemas.openxmlformats.org/officeDocument/2006/relationships/notesSlide" Target="/ppt/notesSlides/notesSlide21.xml" Id="R14c7adc3631d4f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f0e2e9bd34b36" /><Relationship Type="http://schemas.openxmlformats.org/officeDocument/2006/relationships/notesSlide" Target="/ppt/notesSlides/notesSlide22.xml" Id="R544b349116c742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a59a3b8e54398" /><Relationship Type="http://schemas.openxmlformats.org/officeDocument/2006/relationships/notesSlide" Target="/ppt/notesSlides/notesSlide23.xml" Id="R5d1c8825cb5a40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48b648dd74fe3" /><Relationship Type="http://schemas.openxmlformats.org/officeDocument/2006/relationships/notesSlide" Target="/ppt/notesSlides/notesSlide24.xml" Id="Rd53da2bb3acc4a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a27c0cda840e4" /><Relationship Type="http://schemas.openxmlformats.org/officeDocument/2006/relationships/notesSlide" Target="/ppt/notesSlides/notesSlide25.xml" Id="R1cb32bcc59914c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89A48-1C55-4D50-ABB9-41265C7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2C3"/>
                </a:solidFill>
              </a:defRPr>
            </a:defPPr>
            <a:lvl1pPr>
              <a:defRPr sz="1350" b="1">
                <a:solidFill>
                  <a:srgbClr val="63D2C3"/>
                </a:solidFill>
              </a:defRPr>
            </a:lvl1pPr>
            <a:lvl2pPr>
              <a:defRPr sz="1350" b="1">
                <a:solidFill>
                  <a:srgbClr val="63D2C3"/>
                </a:solidFill>
              </a:defRPr>
            </a:lvl2pPr>
            <a:lvl3pPr>
              <a:defRPr sz="1350" b="1">
                <a:solidFill>
                  <a:srgbClr val="63D2C3"/>
                </a:solidFill>
              </a:defRPr>
            </a:lvl3pPr>
            <a:lvl4pPr>
              <a:defRPr sz="1350" b="1">
                <a:solidFill>
                  <a:srgbClr val="63D2C3"/>
                </a:solidFill>
              </a:defRPr>
            </a:lvl4pPr>
            <a:lvl5pPr>
              <a:defRPr sz="1350" b="1">
                <a:solidFill>
                  <a:srgbClr val="63D2C3"/>
                </a:solidFill>
              </a:defRPr>
            </a:lvl5pPr>
            <a:lvl6pPr>
              <a:defRPr sz="1350" b="1">
                <a:solidFill>
                  <a:srgbClr val="63D2C3"/>
                </a:solidFill>
              </a:defRPr>
            </a:lvl6pPr>
            <a:lvl7pPr>
              <a:defRPr sz="1350" b="1">
                <a:solidFill>
                  <a:srgbClr val="63D2C3"/>
                </a:solidFill>
              </a:defRPr>
            </a:lvl7pPr>
            <a:lvl8pPr>
              <a:defRPr sz="1350" b="1">
                <a:solidFill>
                  <a:srgbClr val="63D2C3"/>
                </a:solidFill>
              </a:defRPr>
            </a:lvl8pPr>
            <a:lvl9pPr>
              <a:defRPr sz="1350" b="1">
                <a:solidFill>
                  <a:srgbClr val="63D2C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2C3"/>
                </a:solidFill>
              </a:defRPr>
            </a:pPr>
            <a:r>
              <a:rPr sz="1350" b="1">
                <a:solidFill>
                  <a:srgbClr val="63D2C3"/>
                </a:solidFill>
              </a:rPr>
              <a:t>PROJECT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EDFE5-D7C7-4DFA-9203-274B0698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347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Smart Legal Case Intelligence System with Blockchain based evidence Integrity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BBB6C-F91D-46C9-B62F-57547F82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E7ED"/>
                </a:solidFill>
              </a:defRPr>
            </a:defPPr>
            <a:lvl1pPr>
              <a:defRPr sz="1875" b="0">
                <a:solidFill>
                  <a:srgbClr val="D9E7ED"/>
                </a:solidFill>
              </a:defRPr>
            </a:lvl1pPr>
            <a:lvl2pPr>
              <a:defRPr sz="1875" b="0">
                <a:solidFill>
                  <a:srgbClr val="D9E7ED"/>
                </a:solidFill>
              </a:defRPr>
            </a:lvl2pPr>
            <a:lvl3pPr>
              <a:defRPr sz="1875" b="0">
                <a:solidFill>
                  <a:srgbClr val="D9E7ED"/>
                </a:solidFill>
              </a:defRPr>
            </a:lvl3pPr>
            <a:lvl4pPr>
              <a:defRPr sz="1875" b="0">
                <a:solidFill>
                  <a:srgbClr val="D9E7ED"/>
                </a:solidFill>
              </a:defRPr>
            </a:lvl4pPr>
            <a:lvl5pPr>
              <a:defRPr sz="1875" b="0">
                <a:solidFill>
                  <a:srgbClr val="D9E7ED"/>
                </a:solidFill>
              </a:defRPr>
            </a:lvl5pPr>
            <a:lvl6pPr>
              <a:defRPr sz="1875" b="0">
                <a:solidFill>
                  <a:srgbClr val="D9E7ED"/>
                </a:solidFill>
              </a:defRPr>
            </a:lvl6pPr>
            <a:lvl7pPr>
              <a:defRPr sz="1875" b="0">
                <a:solidFill>
                  <a:srgbClr val="D9E7ED"/>
                </a:solidFill>
              </a:defRPr>
            </a:lvl7pPr>
            <a:lvl8pPr>
              <a:defRPr sz="1875" b="0">
                <a:solidFill>
                  <a:srgbClr val="D9E7ED"/>
                </a:solidFill>
              </a:defRPr>
            </a:lvl8pPr>
            <a:lvl9pPr>
              <a:defRPr sz="1875" b="0">
                <a:solidFill>
                  <a:srgbClr val="D9E7E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7ED"/>
                </a:solidFill>
              </a:defRPr>
            </a:pPr>
            <a:r>
              <a:rPr sz="1875" b="0">
                <a:solidFill>
                  <a:srgbClr val="D9E7ED"/>
                </a:solidFill>
              </a:rPr>
              <a:t>Implementation through Phase 3</a:t>
            </a:r>
          </a:p>
          <a:p xmlns:a="http://schemas.openxmlformats.org/drawingml/2006/main">
            <a:pPr>
              <a:defRPr sz="1875" b="0">
                <a:solidFill>
                  <a:srgbClr val="D9E7ED"/>
                </a:solidFill>
              </a:defRPr>
            </a:pPr>
            <a:r>
              <a:rPr sz="1875" b="0">
                <a:solidFill>
                  <a:srgbClr val="D9E7ED"/>
                </a:solidFill>
              </a:rPr>
              <a:t>Department of Computer Science &amp; Engineering</a:t>
            </a:r>
          </a:p>
          <a:p xmlns:a="http://schemas.openxmlformats.org/drawingml/2006/main">
            <a:pPr>
              <a:defRPr sz="1875" b="0">
                <a:solidFill>
                  <a:srgbClr val="D9E7ED"/>
                </a:solidFill>
              </a:defRPr>
            </a:pPr>
            <a:r>
              <a:rPr sz="1875" b="0">
                <a:solidFill>
                  <a:srgbClr val="D9E7ED"/>
                </a:solidFill>
              </a:rPr>
              <a:t>Dayananda Sagar College of Engineering</a:t>
            </a:r>
          </a:p>
          <a:p xmlns:a="http://schemas.openxmlformats.org/drawingml/2006/main">
            <a:pPr>
              <a:defRPr sz="1875" b="0">
                <a:solidFill>
                  <a:srgbClr val="D9E7ED"/>
                </a:solidFill>
              </a:defRPr>
            </a:pPr>
            <a:r>
              <a:rPr sz="1875" b="0">
                <a:solidFill>
                  <a:srgbClr val="D9E7ED"/>
                </a:solidFill>
              </a:rPr>
              <a:t>29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3D63B-8B78-4A5F-9E2E-CA9B4270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9E7ED"/>
                </a:solidFill>
              </a:defRPr>
            </a:defPPr>
            <a:lvl1pPr>
              <a:defRPr sz="1200" b="0">
                <a:solidFill>
                  <a:srgbClr val="D9E7ED"/>
                </a:solidFill>
              </a:defRPr>
            </a:lvl1pPr>
            <a:lvl2pPr>
              <a:defRPr sz="1200" b="0">
                <a:solidFill>
                  <a:srgbClr val="D9E7ED"/>
                </a:solidFill>
              </a:defRPr>
            </a:lvl2pPr>
            <a:lvl3pPr>
              <a:defRPr sz="1200" b="0">
                <a:solidFill>
                  <a:srgbClr val="D9E7ED"/>
                </a:solidFill>
              </a:defRPr>
            </a:lvl3pPr>
            <a:lvl4pPr>
              <a:defRPr sz="1200" b="0">
                <a:solidFill>
                  <a:srgbClr val="D9E7ED"/>
                </a:solidFill>
              </a:defRPr>
            </a:lvl4pPr>
            <a:lvl5pPr>
              <a:defRPr sz="1200" b="0">
                <a:solidFill>
                  <a:srgbClr val="D9E7ED"/>
                </a:solidFill>
              </a:defRPr>
            </a:lvl5pPr>
            <a:lvl6pPr>
              <a:defRPr sz="1200" b="0">
                <a:solidFill>
                  <a:srgbClr val="D9E7ED"/>
                </a:solidFill>
              </a:defRPr>
            </a:lvl6pPr>
            <a:lvl7pPr>
              <a:defRPr sz="1200" b="0">
                <a:solidFill>
                  <a:srgbClr val="D9E7ED"/>
                </a:solidFill>
              </a:defRPr>
            </a:lvl7pPr>
            <a:lvl8pPr>
              <a:defRPr sz="1200" b="0">
                <a:solidFill>
                  <a:srgbClr val="D9E7ED"/>
                </a:solidFill>
              </a:defRPr>
            </a:lvl8pPr>
            <a:lvl9pPr>
              <a:defRPr sz="1200" b="0">
                <a:solidFill>
                  <a:srgbClr val="D9E7ED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9E7ED"/>
                </a:solidFill>
              </a:defRPr>
            </a:pPr>
            <a:r>
              <a:rPr sz="1200" b="0">
                <a:solidFill>
                  <a:srgbClr val="D9E7E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1298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54966-28F8-4A63-805A-BF723659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FBEDE-0B0C-412D-A155-8A3C8ED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Project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BD661-3209-45FD-9CDB-F8ACE587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C7718-D9B3-41FB-B2D4-83171525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Organize legal case files in one authenticated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27F36-AD72-4D5F-A8ED-4D0A45B9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A7003-B1E4-4ECA-9D9B-5E58D04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Extract parties, dates, events, claims and cited provisions from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CBDF-9A23-45E0-947A-73A9542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A0F8B-D76E-45E1-927F-B884148B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Present a chronological timeline and a graph of case relationships.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CE59A-7C73-40D8-B3AD-74CC08CC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11CFD-395B-4D48-9996-B09401BB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Support statute research with traceable passages and official PDF links.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13F52-4223-4265-9168-8A06B8A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2914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464E1-1B8A-4CAB-9B9C-CC8D2160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DELIVERY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9DB77-32E7-48FE-BD96-4B1DCF14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Implementation through Phase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4F469-FFFE-4DD7-854A-CADDBF90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02FE-C665-4FA7-A4BC-6F96DD12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Phase 1: accounts, authentication, case management and document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056D9-ADED-4E06-8175-2A5D6DD1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6197D-5BD2-43A2-A4D4-5485E5E5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Phase 2: OCR, structured extraction, entity aggregation, timeline and graph.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31A75-F7D9-4F7E-809F-EB27241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B0B5C-B10D-4C26-A3A1-B579432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Phase 3: persistent statute corpus, hybrid retrieval and cited research workspace.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2AE3C-0157-4F4B-A6C6-761B1AE0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8FC0B-152E-48C4-8DF2-3D90C11E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Later phases: contradiction detection and a blockchain evidence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58E13-4D50-4210-9517-85491872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2098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477E-9F96-4879-B149-037DC8E5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FB80D-AC32-4A17-9F27-1CFBF88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Application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EE85A-4CAF-4F19-A1C1-3DCAE951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06F97-1213-41F3-ADB5-18C2FBD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Next.js App Router provides login, dashboard, case pages and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48229-D5D5-44F8-B1AD-B56C64B6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83772-5CFF-4A8E-8DF4-14A76FD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FastAPI exposes authenticated APIs with ownership checks for case resources.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9665A-5D2D-4609-8456-6B3272D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29CD1-8DFD-4138-849B-9222BC6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SQLite and SQLAlchemy persist users, cases, documents and extractions.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43289-630E-4312-AC91-BFAE69FA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C1EC8-F5C6-4887-81D3-41329CE6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Local upload storage holds original files. Chroma stores public statute vectors.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51716-3F3D-4FF8-896C-666285A0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C7A0E-69A0-4E8C-A432-52219551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GPT-4o supports optional extraction and research synthesis. Local fallbacks remain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61A91-0299-4EA4-8E64-FF12EC12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267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B2C27-ADB2-48DD-A213-DE587EA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30B8C-2774-4177-A15E-2C8C342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Accounts and access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F40A0-5D13-4002-965A-9E3CE049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3C173-2773-4FAD-AC61-70102B59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Registration stores a password hash and returns a JWT access token.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DDE8C-8D65-4091-B42E-78E0FA24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F7785-B5BC-4E5A-AB8D-66AF6D0E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Login authenticates the user. The current-user endpoint resolves the token subject.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F1D34-A6B2-4446-83DC-E9DDAB0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435C7-B249-403B-B044-66A6C2FF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Protected APIs reject missing, invalid or expired tokens.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47B5A-BC99-43A5-B646-8A44E9C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E8D6E-1E73-4265-AF24-A9049FA6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Case operations restrict queries to the signed-in owner.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26E64-2FE4-48B0-9E7B-32EDB86C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0E56B-2529-482B-8ED8-20B7DEB5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frontend stores the token in localStorage and guards authenticated 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EF70C-460B-4F68-B2E1-CDB3C64C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5311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6C769-85C2-4E57-BEC3-EBD00585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9536D-B650-4ED4-B859-9A87BD5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Case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8EB08-A70B-459A-9BF3-3A91803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4D4C4-47A2-47AB-9830-44F6C3A7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Create a case with a title, description and case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A9BE2-FDBB-45DB-A88F-2E05C26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C8DA7-99FC-41F2-9032-6831BE7A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Supported categories include criminal, civil, contract and other.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19F40-4C36-4F03-9BE8-81C3620E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3D1E3-55A1-4B57-82C8-A96B6AF7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dashboard lists the current user’s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0B048-2A31-4C4F-BA68-0CCCF54F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93158-5EAB-42BE-AF0B-6143C2EA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Users can view, update and delete their own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00BDB-BF9C-4724-95BC-0290A02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5A08F-A9F2-498B-89CF-CD68CA6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case page connects document uploads with extraction results and research navigation.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69E86-9458-46AE-B191-4F14A49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8332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3F657-6914-4437-A731-1DF537D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103B6-E0FF-4C1E-B2CA-624A8CE1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Document upload and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5F6BF-FC38-40FD-84CF-330AA53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AABDA-1D0A-4268-9E3E-8DF9940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Accept PDF, DOCX, JPG, JPEG and PNG uploads into an owned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48DF9-5C22-419D-9140-020B08D7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E36AD-1BB1-4CF4-87DF-97F877D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Stream file content in 64 KB chunks and compute a SHA-256 digest.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2211-293D-47CE-A2E2-CE64EF54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7295B-CC1C-41FC-BACA-15C144F1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Store original name, generated storage name, format, size, digest and upload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D0754-5CB4-476B-9FC3-2EC28E59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E45D0-F0C9-4035-9E03-A91A288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List, download and delete documents through ownership-checked endpoints.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C20FB-036F-4807-AF62-91FFD9F7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577FB-273C-444B-890E-180A380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SHA-256 metadata exists today. Blockchain registration and tamper-verification workflows belong to Phase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BEA82-17E6-4969-B9A6-77D0FBC2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8668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2AEAF-A81E-4320-9128-6FD8BB13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0C2AD-6804-4329-B3F4-885CBB03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Persistent application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9C657-B5C7-4204-A8F5-16A8BDD6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1DC8B-5163-4367-B9AF-EF384A62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Users: identity, unique email, password hash and timestamps.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FE075-C60F-4971-9A8A-660EC924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B1CA0-3E51-4FC1-A3AF-22C83790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Cases: owner, title, description, type, document count and timestamps.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EBCA3-5343-470B-B022-626C4AAC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6B59A-F1D8-452A-AD90-855B610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Documents: case and owner references, file metadata, SHA-256 and extraction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711D6-CF02-4EDE-A332-9C1E4A0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445E1-9E12-4A0B-BA71-C4DE3A4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Extractions: raw text, OCR status, extraction method and structured JSON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16E72-1210-438A-B74E-2F008C4E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E000E-3D74-4F8B-A54D-7452BA3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Docker volumes retain SQLite data and uploads across service restarts.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49E71-7C39-43E0-A593-26F529B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5974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C1222-A88F-4709-BEA8-4710F0A6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F400F-943E-4C54-9C16-416BABCE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Document extraction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CDF03-2214-4885-A2EC-E4A3E9DA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02006-D448-45E1-8AA5-1644035E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user starts extraction from the case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8E1E6-641B-44AD-A167-B8A0ED23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E2B22-C511-42EC-9BEB-396EB97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API processes documents without existing extraction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01E38-0444-443E-8185-18696AF5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0CD18-7AE5-4B66-BA95-9809B8D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A force option lets the user reprocess documents already extracted.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1AD32-F41D-4357-9C75-295E9048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49E59-A1FF-4193-9256-FB26B5D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pipeline reads page text, detects entities and produces structured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CB5A-913F-4A03-A3BD-4ED9D540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CF95E-C040-41E3-99EE-D3EA6A9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SQLite stores results and marks each processed document as extracted. Empty or unreadable input returns an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267E6-0740-44CB-BC76-335BD1DA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1952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2A5C9-66EC-4990-A6ED-60955B2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FE504-7B69-4CF4-A922-2E514B4D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OCR and text extraction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4BA90-DC31-47E5-B9DE-6C0616EA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287C8-FAED-45AE-91C7-A3BF71EA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Native PDF pages use PyMuPDF text extraction when sufficient text exists.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EBE7F-1FA1-441C-BFBA-14765CFE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0EA04-E0A0-4F46-B5E9-11154D12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Pages with little text render at 300 DPI for Tesseract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62A69-2C30-4428-803D-0243EB52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092A9-D92C-49E1-BCAA-FFD317F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Images pass directly to Tesseract. DOCX extraction includes paragraphs and tables in reading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04F58-BC4E-462C-8B0A-4576B6E9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45E92-7BD0-4874-A813-E42E19E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Page records retain page number, extracted text and whether OCR ran.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01310-B55E-4DE2-B12A-CFD1AB4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DFE8F-97C3-436E-9AF9-42213488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pipeline preserves page markers in combined text for downstream source 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02351-7BFE-43D7-A13A-1FD035D9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9325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0FEF8-8650-486A-AE1A-DDD3AC2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B9449-B037-4205-B68F-926E463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Structured legal information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B2754-F8BC-4A68-BD75-5FF5EA5E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234F8-5217-4A16-A6BF-9D86FE6B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spaCy identifies entities and applies custom legal patterns.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9BD11-FD49-45CE-B589-8DA8EF42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2BD4C-D7D3-447F-B736-694FB974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Structured extraction identifies petitioners, respondents and counsel.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C4DC-5585-4BD2-AD2C-EAA9EAE8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96B2-95C3-4C7F-A37E-A41C640B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Date mentions, dated events, claims and cited provisions occupy separate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661E-E3C7-42F4-8A27-1C18E6F7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12E3D-B1BF-45D6-B215-77E1335F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GPT-4o can produce structured extraction when an API key is 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05923-7779-4E91-B889-D493160F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48650-75E9-40DE-A742-1FCD1E7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Heuristic extraction supports the local workflow without an OpenAI key. Results still require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8E701-B6F1-409E-A80B-5BB8A928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8773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A119E-5154-4E41-88EC-39AB0972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00AB1-AFFE-4AAD-B0BC-800B1743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Timeline 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2055A-2FAF-4FAD-9A0C-60730EFC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994FE-45B9-441A-BFDD-06FCE83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Combine extracted events across documents in the same owned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186A7-7FB5-43CE-81E8-336876E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C6D55-CFFE-40C2-ACFD-40027B4F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Sort events chronologically and place undated entries after dated entries.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274E3-0EF7-461A-99ED-4770BB66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4C2A4-A3AF-4A1D-A08B-CA12494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Remove duplicate rows using date, description and source document.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1BF4E-090D-4D64-861F-9CD7023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708FE-BA2B-441B-8385-9E0D3911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Retain source filename, document type, document ID and available page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FD885-B7CE-440E-84A0-3F04BB58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DCB79-B0AA-4F93-B129-3E87C0A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Keep standalone date mentions in the entities view to avoid turning every date into an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29C11-287B-4605-9081-5E3E1888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1258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3FF18-440A-4549-B02C-078C8E6C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6AEA-6ACB-4EB8-946F-4A99CDE1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Entities and relationship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7DED2-4A4F-4247-9318-A805D30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9420C-E200-463A-A644-33802298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entities panel groups parties by role and shows dates, claims and provisions.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AB4E7-F7D6-479C-9D2C-45886D10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E9A89-5B06-4372-BA3D-BD9BE5C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Aggregation removes repeated parties and normalizes provision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46809-4B4E-47CF-9FBB-47133A4A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E6D41-C1C2-4CE2-81B7-FF1062B1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D3 force graph connects the case to parties, cited laws and documents.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98AF6-0410-422C-8048-E4259E2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954E6-D697-4726-A8F3-7D97FE69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Document nodes connect to extracted events, with up to 12 event nodes per document.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C8AC4-6B8B-401E-888F-36DC2E31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CA002-3A1B-41FA-97AE-A9413BEE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Graph data comes from stored extractions as nodes and links. A dedicated graph database is outside this implementation.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E312-3097-471B-83D7-E9C45FA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03978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3AC24-2E33-4127-AD2E-4D9F5D94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B11F8-DB19-4B39-8716-D2EB4859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Public statute research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E095-2041-4318-9B82-1160CB1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7025E-1543-49D5-9F93-EFB0F41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/research page supports natural-language questions and optional act filters.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EF220-89ED-40DA-8246-E4AAFC9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DAB7-2BA3-475E-84F6-BE2817E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Example questions help users begin. Expanded sources display verbatim passages.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679E6-45CB-464D-B48E-89EEEAAD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B8FA6-7AEF-46C9-BFBC-2447A41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Official PDF links include physical page references for inspection.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1572A-17AB-4041-B082-CB2A4A6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6793D-EF4F-4424-80A5-6480B2D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Coverage counts reveal whether the corpus is ready or partial.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6020F-A50B-4556-AAF3-C04CE81C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E9EAF-ECBE-45F6-BA26-A7CF46B4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current visit retains the last ten queries in memory. Research does not read uploaded case 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CE43A-C9EA-4FBC-B884-0C141BD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58335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E2834-5F50-46CD-9054-CCD3CFB3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E6F96-9146-4BF1-8507-772D104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Corpus scope and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FF340-64C1-469D-A7D9-0AC1FB5B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90EB4-6737-4133-90BD-C546E35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seeded library covers IPC, CrPC, the Constitution, Evidence Act and IT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B559F-0890-4FBB-AB8D-E5F3205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ADFC7-CCE1-4EB0-A001-02B37050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Sources are static PDF snapshots from official government repositories.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73BD2-A4A8-416B-AF49-427092A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AEDA5-3582-49CB-A6DC-93ABEE0B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IPC, CrPC and Evidence Act material carries historical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0702-3D8C-49CB-A224-DD4944B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A8525-156D-4D25-B83B-09495B2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Replacement criminal laws, case law and automatic amendment reconciliation fall outside the corpus.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B8C0E-4709-448D-98BD-2A6F879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D0236-63C2-4D11-B8A3-94BEACC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Constitution schedules and appendices are outside article indexing. Users must check source edition and applicability.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57F45-8DE8-47D9-857A-079DE282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854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17973-9F59-41FC-BE2B-2CC8B621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FD361-3938-44D5-BC11-8DB370EC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Corpus preparation and persistence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3B704-B029-414C-80EA-3305128F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36EAD-AF07-4710-AC10-259381F2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seed command downloads or reads canonical local PDF copies.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DCC39-E9E0-48C9-82D2-BAB1AFAB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D1657-85CB-4340-B817-609DCF8F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Parser checks reject empty PDFs, contents-only output and inadequate provision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B14CF-F143-41F8-B409-7EF9B06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F0664-E8A9-43AC-9CF8-483DE05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Chunks retain act, section or article, title, official URL and starting physical PDF page.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E6B2C-9482-4A8F-B5CE-5D6592F6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0CD2D-E912-4ABD-96C6-893582AF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CPU all-MiniLM-L6-v2 embeddings populate persistent Chroma storage.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B589A-1E59-421F-9918-38462EC5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16C93-CAA6-428B-8FC9-A93089A4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Cached PDFs and model weights support local search after initial seeding.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A8EF7-AE0C-4E5D-AB21-DCE53A0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48796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919BE-86B3-4F39-B4B2-D302940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07CA-68B0-43BE-AA7B-38BC4DA8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Hybrid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4567A-1EF5-49A9-8D5C-8780D661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309DD-0232-45FB-9B7A-9BA355F4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Explicit act and section references route to exact provision matching.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BF8ED-FB92-4B99-88AE-65D1E4B2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43809-588C-4F53-9AC8-89831CA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General questions combine BM25 lexical ranking with cosine similarity.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C7A7F-28DA-4CD5-B72B-015FCED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1930B-AFAC-4FFF-923A-450C3C63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Act filters constrain retrieval to the selected statute.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EEBDD-0DE8-43B2-9ADF-C42DE313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2BCCF-8286-4978-B226-A9D42D5C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top_k controls the returned passage count, within a range of 1 to 10.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EC2E5-4D71-4F5B-8CC1-D73A3649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C8527-1412-461F-936E-BDB24CBB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implementation uses a bi-encoder. LLM query expansion and a separate cross-encoder stage remain future enhancements.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07ECD-5183-49C7-AA6F-69575F1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196572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A73E9-DECC-4A5C-8789-A8FEA144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BAC9E-484B-4DC1-A4BB-07688DF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Retrieval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E530B-B9A6-4AEE-9744-1DA8FD0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5BAD5-9512-4AF9-B829-16AE4CFA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A missing numbered provision returns insufficient support instead of a neighbouring section.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632A1-6BA0-4BEF-A943-85BBECA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34283-090D-4AA5-8887-A7B7CA7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Conflicting act selections or requests for unindexed replacement laws return no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D077E-D0F7-408B-9831-8C4D2874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DFE5D-C35C-4A33-9350-BAFDCCB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Numbered comparisons require support for every requested provision.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87244-D924-4AF6-B3EC-45CE779A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D64F6-3C48-4B7A-9E1E-B45B8A18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Long provisions may span more chunks than top_k allows. The official PDF supplies the complete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D0371-6CF1-42DC-95AA-B777B875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04891-BF88-483D-B877-C4A46A0B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Retrieval confidence describes the match to sources, rather than legal correctness or a calibrated probability.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9A789-B011-4A23-A544-45393D5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280440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AF4EA-8836-434A-B10B-E8F04E96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67BA0-8A44-42A8-8C18-634262C5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Answer generation and citation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AFB1E-2746-497B-BEA7-172099B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E843C-D088-4478-B906-20AD9BE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LangChain LCEL composes retrieval with answer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33406-0297-4A1E-97A8-530BB3A5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C3D1F-17B9-4C07-A4C0-F2D2B8D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Optional GPT-4o synthesis uses strict structured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C61DA-B373-40B5-9372-8EC4A1D8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CC397-467F-4CD5-8526-A5FAC8B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Each returned statement must name a valid source ID and include a matching verbatim quote.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9EF0E-A6A6-4F54-BE71-0E59CBD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4D489-48C1-46E7-8250-7E5F1E9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Missing keys, API failures, refusals or invalid citations trigger labelled source excerpts.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A5609-B089-466A-9CC2-FACAD342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348B7-D018-42D8-A8BD-6C6306CD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Quote validation checks source support mechanically. A legal professional must assess 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5C487-D6EA-4C87-99AA-05BFECA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468025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DA43F-E61E-4DC2-A644-1C61017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797A4-A818-49C5-93BC-F7BDA595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Research API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C6B78-D7E1-4B35-B95E-2D1E0C1C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4D1C4-E7B0-4A9C-BCE7-AB3C874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GET /api/corpus/status reports readiness, per-act coverage and synthesis availability.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7B99F-E1D1-4387-A15C-1F3F5431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FF387-82E3-412B-91BB-C5DFEB5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POST /api/search returns verbatim passages and retrieval mode.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C20E3-67B3-4ED2-BF92-C5B2434A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0BC82-970E-4A87-B10D-F3B1116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POST /api/query returns cited synthesis, source excerpts or insufficient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5F401-01BD-4565-8FC9-C5A6105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6FFE7-9A14-4BA4-98A9-4A2DE5CA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Requests accept a 3–2000 character question, optional act and top_k from 1 to 10.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788F6-18B3-45D6-8D66-32F6FBD3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BAB0D-9C36-4244-A1F7-664C6EC1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Responses include answer, sources, confidence, generation mode, retrieval mode and notice. All endpoints require JWT authentication.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1F26-76EF-4662-A647-5EF1242B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225261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F9E5C-73E7-4793-871B-0C3DFA0E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9F5E8-EA3E-4FBD-A7A4-CFCF680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Seeding and operating the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A5240-C824-449C-9392-50FF483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C7A73-A9E4-485F-9592-E688E74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Start the FastAPI backend and Next.js frontend locally or with Docker Compose.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AD4E-9B39-402D-AE9A-690C3B3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F4FC3-69AE-42ED-B094-F31D745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Seed the public statute corpus once into the deployment’s persistent data volume.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5C9A8-A0F3-4147-B95C-04E6D6D6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BD129-FE45-4CC3-BA9C-FBABA5D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Repeated seeding skips an existing ready index. Partial seeding reports partial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4FE34-65B7-4943-97DC-A984C0AE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C6C18-69DA-423C-8CED-B95687D3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Forced rebuilds stage replacement vectors and restore the old collection if publication fails. Stop the API before replacement.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E866E-0565-454E-A970-69EC44F0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E918F-39F4-4451-90CE-C9469A5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Keep the OpenAI key in backend configuration. Each deployment seeds its own excluded corpus and model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6508B-3B91-43CC-BC11-205281FC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916141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A0EBE-415A-48CA-B1BA-B3184CB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36AB9-ED72-41C2-92FE-1A710B90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Validation recorded for Phase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3046F-B942-4121-A2AB-C4CFC8B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91426-DC58-4224-93A8-D468886C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Project records report 28 passing backend regression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C3387-6E00-4B6D-81A2-F15A3EAC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18BB0-BE4C-49A5-BCF9-181E1BB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Frontend lint, TypeScript checking and the webpack production build passed.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5B4E1-BA5D-4B16-B12E-17E8BE5D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4FC59-BC33-4195-B6E9-9171EBBE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Authenticated browser checks covered login, refresh, research, expanded sources, history and logout.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4A456-4F67-4E9A-90DF-B99B1EC7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817E9-AC1C-415E-8F39-EC239A90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Real-corpus smoke queries covered specific sections, Article 21, natural-language searches and missing provisions.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CB0FB-2EB8-4F84-9A34-6BC22181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9826A-A67A-46E7-8346-A94882AC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Paid GPT-4o research synthesis has not been exercised live. Citation failures use mocked synthesis tests.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0CCBC-CD0C-43C7-A5F1-C2AC661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35798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CFDB5-FCA2-4C67-8629-F4FFFF0F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32F1B-C56C-4313-9000-459331A9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Demonstration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CEC3C-1368-4519-A6B2-ADB19DB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0A456-776E-4F65-8BE9-24EC6330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Register or sign in, then create a case and upload sample legal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89FD1-011B-4042-B6E6-A6BB69E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0569A-2044-4591-9117-36F460CB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Run extraction and inspect the parties, provisions and extracted date mentions.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A4B49-2ACF-4BAB-AF7F-C090634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573D7-4EBC-4B15-9DA0-8AA37AA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Open the timeline and verify events against their document and page references.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56D00-D015-4DE2-AB3B-6A5AC41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9EB05-6804-430B-8F05-2C516775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Inspect the graph to see case, document, party and event relationships.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B4D7D-6176-449A-B6C3-2C6370FF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E65BA-3A43-4C1F-8B0E-24D4EAE3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Open Research, ask a statute question and expand the cited passage before following its official PDF link.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5765E-42FE-4089-B157-075C88A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74511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E3D67-A94E-497E-A321-5C69777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CURRENT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10F6C-EE66-4300-9934-12BF7D93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Implementation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68871-C66C-4CD3-8BF0-DE7A567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85006-5DE7-49A2-99F4-B20B771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OCR quality depends on readable scans and an installed Tesseract runtime.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E14B-5FEB-43DC-9CF9-98277CC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85B6A-56C9-4DED-87EB-49622D9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Heuristic extraction and model output can miss facts or assign incorrect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3856F-618C-4B34-82B3-84779220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911C3-51E9-46C3-B391-F43C5B16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Research covers seeded statute snapshots and excludes case-document question answering.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FBBD0-B823-4807-8367-588A636A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04B39-A22F-4110-8735-5F6FB34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graph represents extracted relationships without a separate graph database.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28E84-6DBF-42F0-BE28-A188A61C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3E7D8-A35F-4D00-B691-57F2EEE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No performance benchmark, production security audit or legal-accuracy guarantee follows from the reported regression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7CAE0-4EC5-43BD-BB72-9089574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55864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2FBB9-544A-4712-A212-1FCC324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7D79"/>
                </a:solidFill>
              </a:defRPr>
            </a:defPPr>
            <a:lvl1pPr>
              <a:defRPr sz="1350" b="1">
                <a:solidFill>
                  <a:srgbClr val="157D79"/>
                </a:solidFill>
              </a:defRPr>
            </a:lvl1pPr>
            <a:lvl2pPr>
              <a:defRPr sz="1350" b="1">
                <a:solidFill>
                  <a:srgbClr val="157D79"/>
                </a:solidFill>
              </a:defRPr>
            </a:lvl2pPr>
            <a:lvl3pPr>
              <a:defRPr sz="1350" b="1">
                <a:solidFill>
                  <a:srgbClr val="157D79"/>
                </a:solidFill>
              </a:defRPr>
            </a:lvl3pPr>
            <a:lvl4pPr>
              <a:defRPr sz="1350" b="1">
                <a:solidFill>
                  <a:srgbClr val="157D79"/>
                </a:solidFill>
              </a:defRPr>
            </a:lvl4pPr>
            <a:lvl5pPr>
              <a:defRPr sz="1350" b="1">
                <a:solidFill>
                  <a:srgbClr val="157D79"/>
                </a:solidFill>
              </a:defRPr>
            </a:lvl5pPr>
            <a:lvl6pPr>
              <a:defRPr sz="1350" b="1">
                <a:solidFill>
                  <a:srgbClr val="157D79"/>
                </a:solidFill>
              </a:defRPr>
            </a:lvl6pPr>
            <a:lvl7pPr>
              <a:defRPr sz="1350" b="1">
                <a:solidFill>
                  <a:srgbClr val="157D79"/>
                </a:solidFill>
              </a:defRPr>
            </a:lvl7pPr>
            <a:lvl8pPr>
              <a:defRPr sz="1350" b="1">
                <a:solidFill>
                  <a:srgbClr val="157D79"/>
                </a:solidFill>
              </a:defRPr>
            </a:lvl8pPr>
            <a:lvl9pPr>
              <a:defRPr sz="1350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7D79"/>
                </a:solidFill>
              </a:defRPr>
            </a:pPr>
            <a:r>
              <a:rPr sz="1350" b="1">
                <a:solidFill>
                  <a:srgbClr val="157D79"/>
                </a:solidFill>
              </a:rPr>
              <a:t>REMAINING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D51F2-D12A-4CE1-94A5-C36F8E58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Phases beyond this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56BC8-BF9F-428D-ABBD-77E0428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499B9-28B9-43C0-89AC-D8681730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Phase 4 plans contradiction detection across extracted case information.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3BE3-F81C-48EC-9EFB-250E0F5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8129F-1F5C-4596-A52B-0652584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Phase 5 plans an append-only evidence ledger and hash-verification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1D371-4C24-4FBD-9016-47443DC7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44CFF-9BB5-4F9E-8E92-03BA4FA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The existing upload digest supplies a foundation for later integrity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89FA2-93B5-41C0-A65F-2B5DFD3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2FB35-3966-40A6-A88D-47E155F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Future research work may add updated statutes, case law and richer retrieval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DD523-AEC8-46D3-A290-954FCA97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D79"/>
                </a:solidFill>
              </a:defRPr>
            </a:defPPr>
            <a:lvl1pPr>
              <a:defRPr sz="1725" b="1">
                <a:solidFill>
                  <a:srgbClr val="157D79"/>
                </a:solidFill>
              </a:defRPr>
            </a:lvl1pPr>
            <a:lvl2pPr>
              <a:defRPr sz="1725" b="1">
                <a:solidFill>
                  <a:srgbClr val="157D79"/>
                </a:solidFill>
              </a:defRPr>
            </a:lvl2pPr>
            <a:lvl3pPr>
              <a:defRPr sz="1725" b="1">
                <a:solidFill>
                  <a:srgbClr val="157D79"/>
                </a:solidFill>
              </a:defRPr>
            </a:lvl3pPr>
            <a:lvl4pPr>
              <a:defRPr sz="1725" b="1">
                <a:solidFill>
                  <a:srgbClr val="157D79"/>
                </a:solidFill>
              </a:defRPr>
            </a:lvl4pPr>
            <a:lvl5pPr>
              <a:defRPr sz="1725" b="1">
                <a:solidFill>
                  <a:srgbClr val="157D79"/>
                </a:solidFill>
              </a:defRPr>
            </a:lvl5pPr>
            <a:lvl6pPr>
              <a:defRPr sz="1725" b="1">
                <a:solidFill>
                  <a:srgbClr val="157D79"/>
                </a:solidFill>
              </a:defRPr>
            </a:lvl6pPr>
            <a:lvl7pPr>
              <a:defRPr sz="1725" b="1">
                <a:solidFill>
                  <a:srgbClr val="157D79"/>
                </a:solidFill>
              </a:defRPr>
            </a:lvl7pPr>
            <a:lvl8pPr>
              <a:defRPr sz="1725" b="1">
                <a:solidFill>
                  <a:srgbClr val="157D79"/>
                </a:solidFill>
              </a:defRPr>
            </a:lvl8pPr>
            <a:lvl9pPr>
              <a:defRPr sz="1725" b="1">
                <a:solidFill>
                  <a:srgbClr val="157D79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D79"/>
                </a:solidFill>
              </a:defRPr>
            </a:pPr>
            <a:r>
              <a:rPr sz="1725" b="1">
                <a:solidFill>
                  <a:srgbClr val="157D79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C2BA5-F6FF-4B83-9FCD-7C981370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B53"/>
                </a:solidFill>
              </a:defRPr>
            </a:defPPr>
            <a:lvl1pPr>
              <a:defRPr sz="1950" b="0">
                <a:solidFill>
                  <a:srgbClr val="243B53"/>
                </a:solidFill>
              </a:defRPr>
            </a:lvl1pPr>
            <a:lvl2pPr>
              <a:defRPr sz="1950" b="0">
                <a:solidFill>
                  <a:srgbClr val="243B53"/>
                </a:solidFill>
              </a:defRPr>
            </a:lvl2pPr>
            <a:lvl3pPr>
              <a:defRPr sz="1950" b="0">
                <a:solidFill>
                  <a:srgbClr val="243B53"/>
                </a:solidFill>
              </a:defRPr>
            </a:lvl3pPr>
            <a:lvl4pPr>
              <a:defRPr sz="1950" b="0">
                <a:solidFill>
                  <a:srgbClr val="243B53"/>
                </a:solidFill>
              </a:defRPr>
            </a:lvl4pPr>
            <a:lvl5pPr>
              <a:defRPr sz="1950" b="0">
                <a:solidFill>
                  <a:srgbClr val="243B53"/>
                </a:solidFill>
              </a:defRPr>
            </a:lvl5pPr>
            <a:lvl6pPr>
              <a:defRPr sz="1950" b="0">
                <a:solidFill>
                  <a:srgbClr val="243B53"/>
                </a:solidFill>
              </a:defRPr>
            </a:lvl6pPr>
            <a:lvl7pPr>
              <a:defRPr sz="1950" b="0">
                <a:solidFill>
                  <a:srgbClr val="243B53"/>
                </a:solidFill>
              </a:defRPr>
            </a:lvl7pPr>
            <a:lvl8pPr>
              <a:defRPr sz="1950" b="0">
                <a:solidFill>
                  <a:srgbClr val="243B53"/>
                </a:solidFill>
              </a:defRPr>
            </a:lvl8pPr>
            <a:lvl9pPr>
              <a:defRPr sz="19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B53"/>
                </a:solidFill>
              </a:defRPr>
            </a:pPr>
            <a:r>
              <a:rPr sz="1950" b="0">
                <a:solidFill>
                  <a:srgbClr val="243B53"/>
                </a:solidFill>
              </a:rPr>
              <a:t>Through Phase 3, the delivered prototype combines case organization, document intelligence and source-linked statute research.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DA595-4563-436C-8284-594030CA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26994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2026-10-28T18:43:49.6470000Z</dcterms:created>
  <dcterms:modified xsi:type="dcterms:W3CDTF">2026-10-28T18:43:49.6470000Z</dcterms:modified>
</coreProperties>
</file>