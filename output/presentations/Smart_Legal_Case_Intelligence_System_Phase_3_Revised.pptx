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58fae2949446d5" /><Relationship Type="http://schemas.openxmlformats.org/officeDocument/2006/relationships/extended-properties" Target="/docProps/app.xml" Id="R31d10f0b98a741d7" /><Relationship Type="http://schemas.openxmlformats.org/officeDocument/2006/relationships/officeDocument" Target="/ppt/presentation.xml" Id="R8ad39331203e49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e9ad2b58f548e6"/>
  </p:sldMasterIdLst>
  <p:notesMasterIdLst>
    <p:notesMasterId xmlns:r="http://schemas.openxmlformats.org/officeDocument/2006/relationships" r:id="R9a69956e9aaf4920"/>
  </p:notesMasterIdLst>
  <p:sldIdLst>
    <p:sldId xmlns:r="http://schemas.openxmlformats.org/officeDocument/2006/relationships" id="256" r:id="Reac524058eba41c2"/>
    <p:sldId xmlns:r="http://schemas.openxmlformats.org/officeDocument/2006/relationships" id="257" r:id="R837214f95e0d4913"/>
    <p:sldId xmlns:r="http://schemas.openxmlformats.org/officeDocument/2006/relationships" id="258" r:id="R010758d054374507"/>
    <p:sldId xmlns:r="http://schemas.openxmlformats.org/officeDocument/2006/relationships" id="259" r:id="R00ecbd4fb4f54913"/>
    <p:sldId xmlns:r="http://schemas.openxmlformats.org/officeDocument/2006/relationships" id="260" r:id="R6e760a60afd04763"/>
    <p:sldId xmlns:r="http://schemas.openxmlformats.org/officeDocument/2006/relationships" id="261" r:id="Rccf926b9b977484d"/>
    <p:sldId xmlns:r="http://schemas.openxmlformats.org/officeDocument/2006/relationships" id="262" r:id="R864dde3cf41d47eb"/>
    <p:sldId xmlns:r="http://schemas.openxmlformats.org/officeDocument/2006/relationships" id="263" r:id="Reb9d239da0f84a03"/>
    <p:sldId xmlns:r="http://schemas.openxmlformats.org/officeDocument/2006/relationships" id="264" r:id="R8364a7edd6214587"/>
    <p:sldId xmlns:r="http://schemas.openxmlformats.org/officeDocument/2006/relationships" id="265" r:id="R909d6120035f49c7"/>
    <p:sldId xmlns:r="http://schemas.openxmlformats.org/officeDocument/2006/relationships" id="266" r:id="R85d9c71902c2426c"/>
    <p:sldId xmlns:r="http://schemas.openxmlformats.org/officeDocument/2006/relationships" id="267" r:id="Ra7c6f85f49d24b2d"/>
    <p:sldId xmlns:r="http://schemas.openxmlformats.org/officeDocument/2006/relationships" id="268" r:id="Rbccc8603fe4e4440"/>
    <p:sldId xmlns:r="http://schemas.openxmlformats.org/officeDocument/2006/relationships" id="269" r:id="R88ca124b4cc546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36876594d2474e" /><Relationship Type="http://schemas.openxmlformats.org/officeDocument/2006/relationships/slideMaster" Target="/ppt/slideMasters/slideMaster1.xml" Id="Rdde9ad2b58f548e6" /><Relationship Type="http://schemas.openxmlformats.org/officeDocument/2006/relationships/notesMaster" Target="/ppt/notesMasters/notesMaster1.xml" Id="R9a69956e9aaf4920" /><Relationship Type="http://schemas.openxmlformats.org/officeDocument/2006/relationships/presProps" Target="/ppt/presProps.xml" Id="Rb61867429b174a74" /><Relationship Type="http://schemas.openxmlformats.org/officeDocument/2006/relationships/tableStyles" Target="/ppt/tableStyles.xml" Id="Rc0400baf14ef484e" /><Relationship Type="http://schemas.openxmlformats.org/officeDocument/2006/relationships/slide" Target="/ppt/slides/slide1.xml" Id="Reac524058eba41c2" /><Relationship Type="http://schemas.openxmlformats.org/officeDocument/2006/relationships/slide" Target="/ppt/slides/slide2.xml" Id="R837214f95e0d4913" /><Relationship Type="http://schemas.openxmlformats.org/officeDocument/2006/relationships/slide" Target="/ppt/slides/slide3.xml" Id="R010758d054374507" /><Relationship Type="http://schemas.openxmlformats.org/officeDocument/2006/relationships/slide" Target="/ppt/slides/slide4.xml" Id="R00ecbd4fb4f54913" /><Relationship Type="http://schemas.openxmlformats.org/officeDocument/2006/relationships/slide" Target="/ppt/slides/slide5.xml" Id="R6e760a60afd04763" /><Relationship Type="http://schemas.openxmlformats.org/officeDocument/2006/relationships/slide" Target="/ppt/slides/slide6.xml" Id="Rccf926b9b977484d" /><Relationship Type="http://schemas.openxmlformats.org/officeDocument/2006/relationships/slide" Target="/ppt/slides/slide7.xml" Id="R864dde3cf41d47eb" /><Relationship Type="http://schemas.openxmlformats.org/officeDocument/2006/relationships/slide" Target="/ppt/slides/slide8.xml" Id="Reb9d239da0f84a03" /><Relationship Type="http://schemas.openxmlformats.org/officeDocument/2006/relationships/slide" Target="/ppt/slides/slide9.xml" Id="R8364a7edd6214587" /><Relationship Type="http://schemas.openxmlformats.org/officeDocument/2006/relationships/slide" Target="/ppt/slides/slide10.xml" Id="R909d6120035f49c7" /><Relationship Type="http://schemas.openxmlformats.org/officeDocument/2006/relationships/slide" Target="/ppt/slides/slide11.xml" Id="R85d9c71902c2426c" /><Relationship Type="http://schemas.openxmlformats.org/officeDocument/2006/relationships/slide" Target="/ppt/slides/slide12.xml" Id="Ra7c6f85f49d24b2d" /><Relationship Type="http://schemas.openxmlformats.org/officeDocument/2006/relationships/slide" Target="/ppt/slides/slide13.xml" Id="Rbccc8603fe4e4440" /><Relationship Type="http://schemas.openxmlformats.org/officeDocument/2006/relationships/slide" Target="/ppt/slides/slide14.xml" Id="R88ca124b4cc546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3578865b9143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fb269ae1d34b8b" /><Relationship Type="http://schemas.openxmlformats.org/officeDocument/2006/relationships/notesMaster" Target="/ppt/notesMasters/notesMaster1.xml" Id="Re30a15e60fbd40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80cbde84bc4fd2" /><Relationship Type="http://schemas.openxmlformats.org/officeDocument/2006/relationships/notesMaster" Target="/ppt/notesMasters/notesMaster1.xml" Id="R1694607c9e724f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b9f4f1c7d343ff" /><Relationship Type="http://schemas.openxmlformats.org/officeDocument/2006/relationships/notesMaster" Target="/ppt/notesMasters/notesMaster1.xml" Id="Rb9fc163bec2844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2fcbffdc994c98" /><Relationship Type="http://schemas.openxmlformats.org/officeDocument/2006/relationships/notesMaster" Target="/ppt/notesMasters/notesMaster1.xml" Id="R58ae0973bd2d45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a394ccbe944125" /><Relationship Type="http://schemas.openxmlformats.org/officeDocument/2006/relationships/notesMaster" Target="/ppt/notesMasters/notesMaster1.xml" Id="R0d1627999a5f4b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667d5eb84e4f8a" /><Relationship Type="http://schemas.openxmlformats.org/officeDocument/2006/relationships/notesMaster" Target="/ppt/notesMasters/notesMaster1.xml" Id="R23f8c7e95db64a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e323bc576845c8" /><Relationship Type="http://schemas.openxmlformats.org/officeDocument/2006/relationships/notesMaster" Target="/ppt/notesMasters/notesMaster1.xml" Id="R9e39e629412845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9b571ce9f946e6" /><Relationship Type="http://schemas.openxmlformats.org/officeDocument/2006/relationships/notesMaster" Target="/ppt/notesMasters/notesMaster1.xml" Id="Rf811a72e044e4b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d7a88bcd4d4b3e" /><Relationship Type="http://schemas.openxmlformats.org/officeDocument/2006/relationships/notesMaster" Target="/ppt/notesMasters/notesMaster1.xml" Id="R4d0c8bca74684e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e2cf6d60564df1" /><Relationship Type="http://schemas.openxmlformats.org/officeDocument/2006/relationships/notesMaster" Target="/ppt/notesMasters/notesMaster1.xml" Id="R352525d0d38c4e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d16fa6646c41e0" /><Relationship Type="http://schemas.openxmlformats.org/officeDocument/2006/relationships/notesMaster" Target="/ppt/notesMasters/notesMaster1.xml" Id="R4164fb0d69fb45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980517c38e40cc" /><Relationship Type="http://schemas.openxmlformats.org/officeDocument/2006/relationships/notesMaster" Target="/ppt/notesMasters/notesMaster1.xml" Id="R7d66fe342b214c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6c55ea5d5e4697" /><Relationship Type="http://schemas.openxmlformats.org/officeDocument/2006/relationships/notesMaster" Target="/ppt/notesMasters/notesMaster1.xml" Id="Rdda82438ac794c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79a2fc555a4f4e" /><Relationship Type="http://schemas.openxmlformats.org/officeDocument/2006/relationships/notesMaster" Target="/ppt/notesMasters/notesMaster1.xml" Id="R00cb939f79ab43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Contradiction detection and the blockchain ledger remain later-phase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Research is a global public-statute service and never retrieves uploaded case documents.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Core routes: /api/auth/register, /api/auth/login, /api/auth/me and /api/cases.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A stored digest is implemented. Blockchain registration and a tamper-verification workflow are planned for Phase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The graph uses stored extraction results as JSON nodes and links. A separate graph database is outside Phase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POST /api/cases/{id}/extract supports normal runs and force=true reprocessing.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Extraction supports decision-making. The user must check facts and interpretation against source documents.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Read APIs: /timeline, /entities and /knowledge-graph under /api/cases/{id}.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IPC, CrPC and Evidence Act are labelled historical. Replacement laws and automatic amendment reconciliation are outside the corpus.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Long provisions may exceed top_k. The official PDF provides the full provision. Confidence describes retrieval match.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JWT-protected APIs: GET /api/corpus/status, POST /api/search and POST /api/query.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Normal research runs locally after seeding. Keep the OpenAI key in backend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phase documentation through Phase 3 and implemented backend/frontend modules. Documented status: 29 October 2026. The prototype supports legal professionals. Source review and legal judgment remain necessary.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e7ce1813546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081f649e940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63c2a91e44e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bca7fa0a840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98cf82b6b4b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6ca43051641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51F05F-23E0-4FAA-840D-F0CB59DB2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405E1B-29FA-4C1C-BF80-5EB6AFCBC5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CD9DE5-C835-46DF-9CF5-CA1224FDE9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3E0D24-DDB3-4741-9821-0F12B9FA7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6C0FD6-CB7F-41C0-9E36-EF84E0BC8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7BDB77-8BA6-48E0-83C4-F9FDD7309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3063B9-17E4-4CC9-9D1F-AB614A0114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A41D45-42EA-4F18-83C2-7812EF709B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653CCC-D1E2-4D21-AFD6-229750F8D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B4C024-B9BF-44D8-A53A-FC61BD3A2D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f96132f2bd4723" /><Relationship Type="http://schemas.openxmlformats.org/officeDocument/2006/relationships/slideLayout" Target="/ppt/slideLayouts/slideLayout1.xml" Id="R410172f10d44467e" /><Relationship Type="http://schemas.openxmlformats.org/officeDocument/2006/relationships/slideLayout" Target="/ppt/slideLayouts/slideLayout2.xml" Id="Rc6a0248a218848bc" /><Relationship Type="http://schemas.openxmlformats.org/officeDocument/2006/relationships/slideLayout" Target="/ppt/slideLayouts/slideLayout3.xml" Id="Rfeab7b3eecec43e6" /><Relationship Type="http://schemas.openxmlformats.org/officeDocument/2006/relationships/slideLayout" Target="/ppt/slideLayouts/slideLayout4.xml" Id="Ra115f55334f2415a" /><Relationship Type="http://schemas.openxmlformats.org/officeDocument/2006/relationships/slideLayout" Target="/ppt/slideLayouts/slideLayout5.xml" Id="R99e4030815444239" /><Relationship Type="http://schemas.openxmlformats.org/officeDocument/2006/relationships/slideLayout" Target="/ppt/slideLayouts/slideLayout6.xml" Id="R8958c5d68d7941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0172f10d44467e"/>
    <p:sldLayoutId xmlns:r="http://schemas.openxmlformats.org/officeDocument/2006/relationships" id="2147483650" r:id="Rc6a0248a218848bc"/>
    <p:sldLayoutId xmlns:r="http://schemas.openxmlformats.org/officeDocument/2006/relationships" id="2147483651" r:id="Rfeab7b3eecec43e6"/>
    <p:sldLayoutId xmlns:r="http://schemas.openxmlformats.org/officeDocument/2006/relationships" id="2147483652" r:id="Ra115f55334f2415a"/>
    <p:sldLayoutId xmlns:r="http://schemas.openxmlformats.org/officeDocument/2006/relationships" id="2147483653" r:id="R99e4030815444239"/>
    <p:sldLayoutId xmlns:r="http://schemas.openxmlformats.org/officeDocument/2006/relationships" id="2147483654" r:id="R8958c5d68d7941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b302433ea4073" /><Relationship Type="http://schemas.openxmlformats.org/officeDocument/2006/relationships/image" Target="/ppt/media/image.png" Id="R772f1822947846cc" /><Relationship Type="http://schemas.openxmlformats.org/officeDocument/2006/relationships/notesSlide" Target="/ppt/notesSlides/notesSlide1.xml" Id="R0f34dc66d1d742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722afe25c4a10" /><Relationship Type="http://schemas.openxmlformats.org/officeDocument/2006/relationships/notesSlide" Target="/ppt/notesSlides/notesSlide2.xml" Id="R1be03da5684b4a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48548022742f6" /><Relationship Type="http://schemas.openxmlformats.org/officeDocument/2006/relationships/notesSlide" Target="/ppt/notesSlides/notesSlide3.xml" Id="Rb29e04fedf3749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018d600bd4582" /><Relationship Type="http://schemas.openxmlformats.org/officeDocument/2006/relationships/notesSlide" Target="/ppt/notesSlides/notesSlide4.xml" Id="R366ddd07d8e245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2ee015c3c40a2" /><Relationship Type="http://schemas.openxmlformats.org/officeDocument/2006/relationships/notesSlide" Target="/ppt/notesSlides/notesSlide5.xml" Id="R43283e6032cc4b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a799c44f54129" /><Relationship Type="http://schemas.openxmlformats.org/officeDocument/2006/relationships/notesSlide" Target="/ppt/notesSlides/notesSlide6.xml" Id="R459c9d04cf444b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af4a90c494a81" /><Relationship Type="http://schemas.openxmlformats.org/officeDocument/2006/relationships/notesSlide" Target="/ppt/notesSlides/notesSlide7.xml" Id="R126834a22ecc4a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a1252133e4240" /><Relationship Type="http://schemas.openxmlformats.org/officeDocument/2006/relationships/notesSlide" Target="/ppt/notesSlides/notesSlide8.xml" Id="R47b49bdc07dc4a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3da3a95554efa" /><Relationship Type="http://schemas.openxmlformats.org/officeDocument/2006/relationships/notesSlide" Target="/ppt/notesSlides/notesSlide9.xml" Id="R3a4911a6f0c14f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e60b1b96547a7" /><Relationship Type="http://schemas.openxmlformats.org/officeDocument/2006/relationships/notesSlide" Target="/ppt/notesSlides/notesSlide10.xml" Id="Rdd20af71dc3a4c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93e8daa2f4555" /><Relationship Type="http://schemas.openxmlformats.org/officeDocument/2006/relationships/notesSlide" Target="/ppt/notesSlides/notesSlide11.xml" Id="Rb3f04ee7912c4e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8351d33cb424e" /><Relationship Type="http://schemas.openxmlformats.org/officeDocument/2006/relationships/notesSlide" Target="/ppt/notesSlides/notesSlide12.xml" Id="R87b83164ccef4e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d588ca9b8418e" /><Relationship Type="http://schemas.openxmlformats.org/officeDocument/2006/relationships/notesSlide" Target="/ppt/notesSlides/notesSlide13.xml" Id="R39506985b44441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4602e868e4f36" /><Relationship Type="http://schemas.openxmlformats.org/officeDocument/2006/relationships/notesSlide" Target="/ppt/notesSlides/notesSlide14.xml" Id="R844a62227a8640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09ADA-845E-4D47-8E73-CA737827E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f1822947846cc"/>
          <a:srcRect xmlns:a="http://schemas.openxmlformats.org/drawingml/2006/main" l="0" t="107" r="0" b="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97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81A58-E7A6-4DE1-BBAE-DE0C38A7F4F8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B8194-2A41-4470-89FA-51364C07B82F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AA0B3-C0C0-45EF-9151-8E2216F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Project overview and implementation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8DFD5-3CBE-4583-B1A0-283FAE13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Legal case understanding through Phase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05832-F464-42F8-AB27-7E81791C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53838-6689-40ED-9148-B56D6E53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prototype organizes legal documents, extracts case facts and supports statute research with traceable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71370-E5EC-4B3E-B713-4AFD2B48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5FF1D-67F3-412D-911D-623CB6B5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Phase 1 delivers registration, JWT login, owned cases and persistent document storage.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1B874-D51C-46C9-BF66-F986F9D6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9092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87A25-47F1-4C87-9B47-3CAFFC21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Phase 2 delivers OCR, parties, dates, claims, provisions, chronological events and a D3 relationship graph.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DF4CD-58FE-41E9-AE6A-BA610437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70CD-DB7D-428D-99A2-C29ECC7E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Phase 3 delivers a persistent public-statute corpus, hybrid search and a source-linked research workspace.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715B4-D965-49CE-BD45-4E03392A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80FB3-00D2-4F59-9558-F4990720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Phase 1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Foundation and 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13468-DA82-43D3-98E4-AEF1C017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AEA00-80B0-430E-8F3A-AA225D95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Phase 2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Document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91AA1-08D4-4ADD-99F5-3FA95779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C1C1B-2506-40C1-A90F-876B2AE2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Phase 3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Cited statute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2F40F-3982-484B-9C2B-DCDD61E1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Contradiction detection and the blockchain ledger remain later-phase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D89D9-EA7B-42B9-95B4-7C0A6BF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708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61584-D71C-45CB-8D73-6178FA88CBA5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A5ADB-5E60-4180-BDAD-7A52ED18A9A6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089CA-9168-4A0E-9D55-A9C674858485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21E0B-AF55-4320-BC18-71EBBF07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C455C-A377-4AF1-9F91-F31162F6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Two information workflows share one 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4C1E7-A69C-4910-9AC0-DABCD248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38F02-3E82-4C3D-96A2-95103E7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Next.js App Router provides the dashboard, case workspace, upload screens and /research page.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A19C2-AD40-4139-A20E-3EEFE4C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C2188-8AA9-4746-9B7C-3199006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FastAPI handles authentication, case ownership, document operations, extraction and research APIs.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19B77-2BCC-4568-95C6-F4B32A2E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9092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AF9BA-8D43-40C6-BA50-EDC128C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SQLite stores application records. Original files remain in local upload storage. Chroma stores statute embeddings.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A5F13-6D9B-4CD4-BA42-C51A4FAC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50567-6001-4FA8-826E-BF275BE9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Optional GPT-4o supports extraction and research synthesis. Local fallbacks support use without an API key.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FE8E2-CA30-4FE7-9A81-A2D743C6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B2C7E-F196-4382-9E5D-736752A9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Next.js interface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78E4B-7ABE-48BE-9875-726159E9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F639E-895B-403C-83E5-7222B13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FastAPI authenticated APIs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BE815-BAF1-446F-86BF-A748916F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3819E4-D609-4492-B440-040122F4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SQLite and upload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499C6-179C-46FD-A3D7-73C395C0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3C277-B948-445A-B8A3-D69F185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Chroma statute corpus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0CFBE-BF77-4AE3-B874-155B374F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Research is a global public-statute service and never retrieves uploaded case documents.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1414AC-949A-4802-8AA2-59D16082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091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C0A3F-0E86-4DDE-B747-72513CEAFFDC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204B6-F271-46FD-BF2D-7ABA1B10C840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65A51-19F2-48D3-957B-63D12410B873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C2AEC-6B26-42AC-9861-86A9F342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Phase 1: authentication and case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748B3-9F5B-465A-9374-201B2D61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Authenticated access to each user’s case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5AF79-1626-4FDE-BA44-8AC9E55E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A8224-9F64-4FDE-974C-26BB39C2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Register and login return JWT access tokens. Passwords persist as hashes.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14AFF-BB9D-4060-B67C-A6995417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69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10D34-5631-4463-AE3F-B8C3E1A1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Protected endpoints reject absent, invalid or expired tokens. The current-user endpoint resolves the signed-in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7B46B-27DD-4B7E-B8E5-F523F16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A5725-9C66-408D-B8C9-A2D0C4F9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Users create, list, view, update and delete their own cases. Ownership checks constrain case resources.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51401-6CA3-4337-89C8-F56D3368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366C8-5066-4871-AF3A-FD414568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Cases store title, description, category and document count. Categories include criminal, civil, contract and other.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1239A-511E-4F8D-A1E6-663AF5ED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1F1C4-5BF5-43C2-8049-AC22737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frontend stores the token in localStorage and guards authenticated pages.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6AE15-0809-4FAD-A54B-DB5EDABC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9B775-AB56-41B9-98C0-6324CF7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Register or login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21BAC-A468-49EA-841A-6B630532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D5FC9-A0AD-409F-87F2-DC9B4ADB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JWT bearer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0DE81-E0CD-41D9-80AF-A3BFE87E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A1B8E-41EC-44E1-B980-83890C8B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Resolve current user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951C6-86F5-477D-8443-8EA0DC9D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324F0-DB6F-44EE-AB7F-B23F8EB0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Owned case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697C4-6B1E-48FF-9809-D4C8274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Core routes: /api/auth/register, /api/auth/login, /api/auth/me and /api/cases.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CAAE7E-DE5D-4569-A49F-A419F32E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279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7A3A8-9324-416C-8F4D-BA36C388CE3A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3B56C-5520-41C4-929E-8BF51FFE01A0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34CCC-6149-4281-B374-106C852B3520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BF3A9-062F-4C3D-90DA-3C587108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Phase 1: upload, storage and integrity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B50C0-2793-49CA-B590-99414A0F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Original files and SHA-256 metadata persist per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E5A14-A35D-46D4-B23E-1232B70C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FE379-A18F-437E-A127-B6CB103D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Supported formats: PDF, DOCX, JPG, JPEG and PNG. The API validates the file extension and case ownership.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78F93-6440-4E7B-A10F-9171E0EF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F60C4-7E7D-4B3F-93BB-A5A15819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Upload streams use 64 KB chunks. A SHA-256 digest updates as bytes reach storage.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4DF0D-8C6A-43A1-AFB4-53187CA0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9092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71257-52A6-42EE-9F06-403D1E98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Each record retains original and generated names, format, byte size, upload time and extraction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BA6A6-DC08-4665-81BE-DDC391B2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0019C-CBC3-4EED-B4C0-7C272BE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Users can list, download and delete documents from their owned case. Docker volumes retain files and SQLite records.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52DF0-ED48-4947-9973-75988EF7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124D5-2F6A-42B2-AA18-7CB926F1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Uploaded document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A1648-1EF4-4B77-853C-6153A53A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78255-86B9-4538-B052-24E4BEDD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Stream bytes and 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63C3E-B1E9-4E27-BE68-3195FB74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8DB70-40C6-4A12-B020-526BF651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Save original 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3C921-46F4-42ED-BA06-66838991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15DB7-438D-4D70-94B7-8DF9FF5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Persist metadata in 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BEA8E-427E-455D-B924-EB837A7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A stored digest is implemented. Blockchain registration and a tamper-verification workflow are planned for Phase 5.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7122F-54BE-4AEA-8F86-0E09F55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9153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22D81-8D27-4D07-B7D1-FAB0A3404B70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46FE2-3418-45F9-9E84-E677AA48A7B5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EA358-77AE-4DA9-B419-0913A24CB072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21AF9-51D5-4EBE-87CE-B0841E15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Application data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66C78-07B7-4ADD-852E-AC9C7F96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Persistent records link each extraction to its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ED665-225B-48F8-B041-C4BC3CFC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76EEE-3F82-4BDF-BEAF-772D15D8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Users store identity, unique email, password hash and timestamps.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74A3A-B1CA-458A-83F1-DD5E67A3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69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492C8-DC01-4AA9-9BFB-0620C00E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Cases reference an owner and store case metadata and document 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A1276-8A00-41B9-9831-171FCF4B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2A514-037D-47AE-A8E2-D20E52F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Documents reference the case and owner, with storage metadata, digest and processing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F5426-E632-4A3D-9BF8-048BA297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BE22F-0F35-47A8-BEF0-1BA1662D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Extractions reference documents and cases, retaining raw text, OCR use, extraction method and structured JSON.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F110F-2410-46AE-ACFB-4B588D75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5A541-21DF-4DD2-84CC-8A60CF91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Structured fields include parties, dates, events, claims, cited provisions and spaCy entities.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75577-9755-4D47-97BC-569A1924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4DB80-2007-4D27-8545-E5A62E4B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User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Identity and credentials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33A33-C95C-4F4C-B388-D805C804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C4BB9-6426-4AE9-984A-275107BA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Case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Owner and case 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3CB3A-CAF2-4FFE-9D8E-780FDF13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EC080-9B88-4306-95A2-2E790ECC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Document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File and digest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1E20E-F2CB-46FC-8C3C-B9B7926E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6DB71A-DF83-4E5D-8F9D-00036A5F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Extraction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Text and structured facts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F3FE5-0698-4689-AEB1-685910C7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The graph uses stored extraction results as JSON nodes and links. A separate graph database is outside Phase 3.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74212-23F5-4525-AEEF-6959109A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8887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62E79-5774-4231-B190-60832061BB4E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95DBD-E054-4D7C-A09A-A432571E0B26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200C4-077F-4B41-9A84-AAEC82CF0CBB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28F73-251F-40C5-9FE1-9BD1BD4B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Phase 2: OCR and extraction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86F2B-AB86-4F6B-A285-6ABAF06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Page-aware processing for digital and scanned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6F8BE-BEC5-4427-AD06-059CDE71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31597-8744-4FE8-9256-1A5333F2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user starts extraction from the case page. Existing results are skipped unless force reprocessing is requested.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327CB-5AD6-4144-A985-A9F4E6EC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69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5FB62-8DA2-4D38-BD85-2F49E187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Native PDF pages use PyMuPDF text extraction. Pages with little text render at 300 DPI for Tesseract OCR.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43405-5B35-4C86-A4CF-C3041C4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E5D9C-3BD8-493D-A71A-663260E1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Images use Tesseract directly. DOCX extraction reads paragraphs and tables in their original order.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E5870-CA7C-4FA7-9E82-A4613781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F1387-E4EB-4E24-A40C-B265DDE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Page number, text and OCR status feed combined text with page markers. Empty readable output returns an error.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9F1B2-7F86-456F-A8E9-E02FBE8C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49DB2-3556-4BBC-994A-0EC65EF9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API persists structured results and marks each processed document as extracted.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C5F76-9757-4BEB-8EA1-10767AF7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D9D21-9D03-4952-B524-DB7746B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PDF, DOCX or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2B196-D62D-4CF3-AFF3-CB04C5C6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27805-9780-4ECE-BA26-06088D27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Native text or OCR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DD5A6-31A8-4BCF-8917-6AD63E08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848E2-26D0-4F7B-A4AE-7D3E872F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Page-marked raw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FCD43-15C6-4D73-8488-C5B17F7D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0BA50-6FF5-411E-AD77-6048DE42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NLP and persisted extraction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25C5D-95EE-4095-B5B7-3664EF3A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POST /api/cases/{id}/extract supports normal runs and force=true reprocessing.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A9A4F-0B99-4CFA-8063-012F3F36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3644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E195A-5CD4-4B3E-8D6C-E5AEF84C4804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DC5A8-690D-4AD8-94BD-64B0AD9A0FB0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16BFF-2870-4844-BDB6-969383570B45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DE1A8-AFAF-479D-84DA-604A476E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Phase 2: structured legal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B0F22-A08A-4084-9710-4D66197D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Entity recognition and structured extraction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749DE-8A22-4DAF-8168-CA112893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6F523-D8E5-400B-B2F0-2C51355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spaCy identifies entities with custom legal patterns, including provision references and court-related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356D1-A3D5-4C15-A37D-FC824E77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69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3C385-9E8D-44A2-8F2E-3DD85DD4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Structured results group petitioners, respondents and counsel into separate party roles.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0BBC8-323B-42C4-8E54-7EA10D76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D5065-6959-49D7-86E8-AA6D06D1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Date mentions remain distinct from dated events. Claims and cited statutory provisions occupy separate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5EC09-243F-49E6-A88B-055AE0D2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7A249-0771-4F57-A465-1DA976F3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GPT-4o extraction can operate with a configured API key. Heuristic extraction supports the local path without that key.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BF09A-CBAA-4911-805D-9ECEFED6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90AA5-38E7-414D-AD0E-2A858739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entities view aggregates documents and removes repeated parties and provisions.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01940-EC3F-429D-AA7C-EF16E8A2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EB5C6-5623-4891-8EAA-1409915B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Page-marked 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FCF47-A493-4B20-8F59-F34378AA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65054-4E3B-471A-BCBB-F152DCB6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spaCy legal patterns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0676C-AFD8-4449-AFB2-A26A89F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58476-BC5B-45D5-BB6A-AAE9A5AE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GPT-4o or heuristics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E4739-DF82-4B8A-9F0F-AFF6E539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A258C-991F-40BD-B9C7-A1856A29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Parties, events and provisions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0EBFF-D341-4907-8131-4C8D41A2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Extraction supports decision-making. The user must check facts and interpretation against source documents.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4B5EE-BBE2-4925-B2B0-3D0E6814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91726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68374-4FBE-4878-8906-DCAC5864D638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C551C-21E4-4FB7-846D-4E973E0C45DC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963A2-1BE3-48A7-9830-75FB19385FE4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870EE-F7BF-46C4-9FDD-14A05707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Phase 2: timeline and relationship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AB86C-F787-4316-B5B0-55356A46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Cross-document chronology with source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4B60F-F716-4351-B13F-8CDF6258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998AB-0F5A-4636-B49D-5D60CF81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Timeline construction collects extracted events across the case and sorts them chronologically. Undated events follow dated entries.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C2FCA-8700-41C4-84F7-89129A93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2BEC9-5B6F-42AA-B2B5-BEAA05E2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Duplicate rows use date, description and source document. Standalone date mentions stay in the entities panel.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C1DB6-9F5A-4A80-AA61-C0A4D101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9092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FAC12-6CF6-4E39-8CC3-88C8D6E6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Each event carries document name, document ID, file type and an available page reference.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49CC2-AD7D-47A3-BE16-5BA0356D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296EA-BD74-4EAC-B838-F4117BC8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D3 graph links the case to parties, laws and documents. Document nodes connect to up to 12 extracted events each.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67877-5CBF-4650-9F8F-C3A45B2E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C4463-C089-44E1-B511-6ED2F0E9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1577B-4D97-4DD3-86DE-7CAD9A27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89B34-FCAA-432E-B6BB-84A4DAC1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Parties and cited laws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CF127-5703-453C-8D30-3896DFF9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4BB70-9021-4FB8-BEF4-12EBCDB9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Documents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1E801-18BC-4ECC-89E5-1BECDA03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B8D79-13D4-4C60-B856-16E2AB2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Extracted 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77EAF-5738-4B39-BDBD-A31FC119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Read APIs: /timeline, /entities and /knowledge-graph under /api/cases/{id}.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9C026-2D46-45A0-A7C7-26C3A1C3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2529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A22EA-CCA3-4C35-A58A-DFE11026679C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2FA92-3397-43AA-B59F-C068BD9CC092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4C78A-8B65-4815-B0F3-704B2135D583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AF49C-656F-4E69-87EB-DEA5A9A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Phase 3: statute corpus and indexing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58322-48C3-487D-8BE7-B3477677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Official PDF snapshots become a persistent 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12F77-B887-4386-BA5A-C31596FD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24AE0-CC35-4B9D-AD16-9731617E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library covers IPC, CrPC, Constitution, Evidence Act and IT Act snapshots from official repositories.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EBF08-BFC4-45E8-B16C-6F1D79D5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FA7F7-D692-4BB7-B02D-9989F7AC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seed command reads canonical local PDFs or downloads them. Parsing rejects empty, contents-only or insufficient-coverage input.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0ACD7-563E-4C39-95EA-61E96DFA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9092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3B9C0-C65F-4DE3-A653-BAFFA663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Chunks retain act, section or article, title, official URL and starting physical PDF page. Inserted lettered provisions remain searchable.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7AFB8-4DD0-4C3E-A9EE-8B9187C4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AD4AC-507F-464E-9CF5-30F9471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695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CPU all-MiniLM-L6-v2 embeddings populate Chroma. Cached PDFs, model weights and vectors persist locally.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CC81A-E4A8-403A-AC66-D424A126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EF5FB-3EE0-4869-AA15-D9981A35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Official statute PDFs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C1638-F106-46FA-A0AA-6567E757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3F031-37F2-4E1E-A2E6-ECA3206B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Provision parsing and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8CACE-9365-4E41-AF79-610FFC6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0D1AD-335E-4A84-87D1-A853A159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Chunks and source 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3F2E5-6447-4D47-AAA9-D07BDA52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47F5C-75A9-4B84-9DE3-10204E23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MiniLM vectors in Chroma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54DF5-8FF7-495D-A0F3-894C1EA0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IPC, CrPC and Evidence Act are labelled historical. Replacement laws and automatic amendment reconciliation are outside the corpus.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C87DF0-C54B-46D1-ABDE-D09F0252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52661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3C5CE-027E-4129-8AF2-472E1E3E3227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E9913-6E4F-46F4-BB81-3FD34D8D2B4C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2B420-6C1C-4324-ACBF-8CC7DA740128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EFF9F-5708-4D8C-B51D-200FA6AB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Phase 3: hybrid retrieval and exact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CF4B2-BB16-4845-A80C-19E6B1C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Question routing preserves numbered provision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19AA8-8E0F-4CF4-AE8E-B9937780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A9603-39C6-49EA-A620-085D9A06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Explicit act and section references use deterministic exact matching. A conflicting selected act returns no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E5172-E718-40CB-BFB6-098B481F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69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88C7E-41F7-48DC-93B9-8F7A3B3F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General questions combine BM25 lexical ranking with cosine similarity from sentence embeddings.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2A229-CFF3-48BD-B62C-6704E8C7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FE647-0969-4E8F-BD81-B615BAC6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Optional act filters restrict the search. top_k accepts 1–10 passages. Questions accept 3–2000 characters.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C56D2-2577-4250-9DC9-3B1CF5F6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4A9C7-CC40-4747-A5A7-74F14B26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Missing numbered provisions do not substitute nearby sections. Comparisons require every requested provision.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D3F01-8AC0-49C1-8889-91ABDA9C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4D720-44E4-4B0F-8667-B2F7B56A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MiniLM is a bi-encoder. Query expansion and a separate cross-encoder stage remain future enhancements.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1F717-F23D-4EE8-B3EC-7EE79903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C531A-5BB3-43BA-BF76-57E89798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Question and optional 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5DCD5-7587-4435-AB0E-B6A4C606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3C538-6A42-4900-BE8C-8CF1150E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Exact reference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FE54C-4C7C-41A1-A94C-F0128105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A4E22-57A2-4FA2-9F66-5A48604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BM25 and cosine ranking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2C9B6-D968-4E01-A5D7-AFB74DB0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2A8C5-8B2C-4A45-A00C-E8EC2AC8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Ranked source passages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01134-19BE-41C5-A04F-8B04AA25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Long provisions may exceed top_k. The official PDF provides the full provision. Confidence describes retrieval match.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B7FBA-59CA-4F0F-822F-C45FFEDE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670925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BEBCF-1244-4F8B-A62A-F648F661C24E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184A4-BBBB-478A-A1E7-01C13E0525A6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86C83-EB66-463F-B30B-F78FB67BC1BE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0BA41-2B49-4433-AEC2-6D4C54C5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Phase 3: grounded answers and research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6C2C0-ADB4-47A1-80B4-0AEAB82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Answers retain source passages and official page links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D082D-132F-4AFA-911E-FB5603EC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149B9-C9A5-4AC8-B205-E3015B77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LangChain LCEL composes retrieval with answer generation. Optional GPT-4o uses strict structured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BAAFF-9A03-4CF3-9296-6EAC3292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69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171E7-631D-4AF2-A389-7B54CC4C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Each synthesis statement must identify a valid source and include a matching verbatim supporting quote.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FCC49-B676-4A21-8524-B4848E32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207E6-8CEB-4299-A448-69EC4F9E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Missing keys, API errors, refusals or invalid citations fall back to labelled excerpts. Unsupported questions return insufficient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5CA8F-5F58-4A05-BC55-298CA5C4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B6EF8-CA19-4BF5-A37C-C6B063E4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research page offers act filters, sample questions, expandable sources, official PDF links and corpus coverage.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F442A-EEE5-4890-991E-B34BF28F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9F843-F715-4A57-A49B-1D5F63D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The current visit retains the last ten queries in memory. Quote checks do not establish legal correctness.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EE0F8-5BCF-4336-8C94-EE1B4460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087B8-2515-4A32-9A4D-91613826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Retrieved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28B6B-B8BA-43EC-8FF7-187F426A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91D06-3608-44C2-8110-F01D5767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Optional structured synthesis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3D2F2-C7A2-4615-9761-1EF511D3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9918F-3185-4A5E-8E88-76573D6C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Source ID and quote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F2835-199A-4A61-82B2-842C2305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3703E-C7CF-4177-B5BC-212863D4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Cited answer or excerpts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260E3-B5A2-4061-A63A-95086EE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JWT-protected APIs: GET /api/corpus/status, POST /api/search and POST /api/query.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02C36-472E-41BB-85AB-CABBBF83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61865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521AB-057A-40C9-83B6-B48254702EE5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3CC00-83EF-48DE-9237-A691BC91CB8D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CC5D9-5005-47B9-A3F4-5FE6DA02423E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52FD5-4E33-4EDD-9507-2768804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Deployment and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7CF73-BE0C-48DD-B628-94FA0E0E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Persistent local operation with a documented offline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FB734-E612-482D-8D23-0333188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45C34-08B6-472F-B9AD-0DE6B84C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Run FastAPI and Next.js locally or through Docker Compose. Seed the public corpus once per deployment volume.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9DA09-B712-4C7B-BFFE-DC11C874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69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B6276-0AAD-4798-89E0-7DF5656A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Repeated seeding skips a ready index. Forced rebuilds stage vectors and restore the previous collection on publication failure. Stop the API before replacement.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1E0D7-EB37-4157-A22C-41AE95E8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881B0-E3E7-4133-8433-0F81EBB0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Project records report 28 passing backend regressions plus frontend lint, TypeScript checks and the webpack production build.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E1C2E-A524-449E-99D0-9EDE02C0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4BAFC-FAE6-4C43-A615-1212B79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Authenticated browser checks cover login, refresh, research, expanded sources, history and logout. Smoke queries exercise real statute retrieval.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D5A74-CC6B-4293-818A-BD7A53D7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76A34-ED38-4396-AE40-6B29B2F8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Live paid GPT-4o research synthesis has not been exercised. Citation-failure regressions use mocked synthesis.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E8DE7-0B1E-4B7E-AF68-91C036C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EAD17-F12C-42B0-8DD6-EEB0046C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Install and configure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54F9F-69EF-4DD8-A5A6-6B594E4F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79D59-3CC9-4D9A-8E9A-9DAB0152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Seed persistent corpus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C3729-F5CE-44CF-A607-6E2D37D4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3D6DC-C4B3-4BB5-A318-EF309FDA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Start backend and frontend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E146A-D71C-458E-8F32-DDD398C0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4FCAE-2073-4F67-9575-FA4C4ECB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Validate authenticated flows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39DE8-20C9-4B82-8435-62C7C5F4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Normal research runs locally after seeding. Keep the OpenAI key in backend configuration.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CE839-FE78-47AF-89A0-97F6C9C6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850814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96F45-23A8-4C24-AF3E-D3862546AFD9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rot="10800000">
            <a:off x="9963150" y="44196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DEE93-C2B2-4013-9F21-E1D674E671D1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rot="10800000">
            <a:off x="9963150" y="34385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D815A-1D9D-481B-B5F5-354EF61FC72B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0800000">
            <a:off x="9963150" y="2457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EAA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1C900-6630-4CDB-A9AE-650ACBC0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EAA"/>
                </a:solidFill>
              </a:defRPr>
            </a:defPPr>
            <a:lvl1pPr>
              <a:defRPr sz="2550" b="1">
                <a:solidFill>
                  <a:srgbClr val="006EAA"/>
                </a:solidFill>
              </a:defRPr>
            </a:lvl1pPr>
            <a:lvl2pPr>
              <a:defRPr sz="2550" b="1">
                <a:solidFill>
                  <a:srgbClr val="006EAA"/>
                </a:solidFill>
              </a:defRPr>
            </a:lvl2pPr>
            <a:lvl3pPr>
              <a:defRPr sz="2550" b="1">
                <a:solidFill>
                  <a:srgbClr val="006EAA"/>
                </a:solidFill>
              </a:defRPr>
            </a:lvl3pPr>
            <a:lvl4pPr>
              <a:defRPr sz="2550" b="1">
                <a:solidFill>
                  <a:srgbClr val="006EAA"/>
                </a:solidFill>
              </a:defRPr>
            </a:lvl4pPr>
            <a:lvl5pPr>
              <a:defRPr sz="2550" b="1">
                <a:solidFill>
                  <a:srgbClr val="006EAA"/>
                </a:solidFill>
              </a:defRPr>
            </a:lvl5pPr>
            <a:lvl6pPr>
              <a:defRPr sz="2550" b="1">
                <a:solidFill>
                  <a:srgbClr val="006EAA"/>
                </a:solidFill>
              </a:defRPr>
            </a:lvl6pPr>
            <a:lvl7pPr>
              <a:defRPr sz="2550" b="1">
                <a:solidFill>
                  <a:srgbClr val="006EAA"/>
                </a:solidFill>
              </a:defRPr>
            </a:lvl7pPr>
            <a:lvl8pPr>
              <a:defRPr sz="2550" b="1">
                <a:solidFill>
                  <a:srgbClr val="006EAA"/>
                </a:solidFill>
              </a:defRPr>
            </a:lvl8pPr>
            <a:lvl9pPr>
              <a:defRPr sz="2550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EAA"/>
                </a:solidFill>
              </a:defRPr>
            </a:pPr>
            <a:r>
              <a:rPr sz="2550" b="1">
                <a:solidFill>
                  <a:srgbClr val="006EAA"/>
                </a:solidFill>
              </a:rPr>
              <a:t>Demonstration, limitations and remaining phases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4A125-984A-4121-AB40-2C20D33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3247"/>
                </a:solidFill>
              </a:defRPr>
            </a:defPPr>
            <a:lvl1pPr>
              <a:defRPr sz="1875" b="1">
                <a:solidFill>
                  <a:srgbClr val="243247"/>
                </a:solidFill>
              </a:defRPr>
            </a:lvl1pPr>
            <a:lvl2pPr>
              <a:defRPr sz="1875" b="1">
                <a:solidFill>
                  <a:srgbClr val="243247"/>
                </a:solidFill>
              </a:defRPr>
            </a:lvl2pPr>
            <a:lvl3pPr>
              <a:defRPr sz="1875" b="1">
                <a:solidFill>
                  <a:srgbClr val="243247"/>
                </a:solidFill>
              </a:defRPr>
            </a:lvl3pPr>
            <a:lvl4pPr>
              <a:defRPr sz="1875" b="1">
                <a:solidFill>
                  <a:srgbClr val="243247"/>
                </a:solidFill>
              </a:defRPr>
            </a:lvl4pPr>
            <a:lvl5pPr>
              <a:defRPr sz="1875" b="1">
                <a:solidFill>
                  <a:srgbClr val="243247"/>
                </a:solidFill>
              </a:defRPr>
            </a:lvl5pPr>
            <a:lvl6pPr>
              <a:defRPr sz="1875" b="1">
                <a:solidFill>
                  <a:srgbClr val="243247"/>
                </a:solidFill>
              </a:defRPr>
            </a:lvl6pPr>
            <a:lvl7pPr>
              <a:defRPr sz="1875" b="1">
                <a:solidFill>
                  <a:srgbClr val="243247"/>
                </a:solidFill>
              </a:defRPr>
            </a:lvl7pPr>
            <a:lvl8pPr>
              <a:defRPr sz="1875" b="1">
                <a:solidFill>
                  <a:srgbClr val="243247"/>
                </a:solidFill>
              </a:defRPr>
            </a:lvl8pPr>
            <a:lvl9pPr>
              <a:defRPr sz="1875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247"/>
                </a:solidFill>
              </a:defRPr>
            </a:pPr>
            <a:r>
              <a:rPr sz="1875" b="1">
                <a:solidFill>
                  <a:srgbClr val="243247"/>
                </a:solidFill>
              </a:rPr>
              <a:t>A complete Phase 3 prototype with defined next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7D2CB-210D-468F-BB94-E22F700E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C5DAC-18BC-49CF-9DB3-807EC943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Demo: sign in, create a case, upload documents, run extraction, inspect entities and verify timeline events against 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9F18E-DDBC-4FC1-84C2-AEEEBF7A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69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B1548-6E3C-44A2-8A48-72311A97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Open the graph, then use Research to ask a statute question, expand its passage and inspect the official PDF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E0133-2603-4E50-B07C-ADDB5841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9D290-82EC-46AD-A64F-7FE8D331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Current limits include scan quality, extraction errors, static statute editions and a graph without a dedicated graph database.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A5805-124E-42D3-8A97-CA61B418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015C5-7ABB-45A3-A80B-02B91CCB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Case-document Q&amp;A, case law, contradiction detection and an evidence ledger are outside the delivered scope.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0B0A4-8FC7-4554-9849-A77FEA2D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22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6EAA"/>
                </a:solidFill>
              </a:defRPr>
            </a:defPPr>
            <a:lvl1pPr>
              <a:defRPr sz="1875" b="1">
                <a:solidFill>
                  <a:srgbClr val="006EAA"/>
                </a:solidFill>
              </a:defRPr>
            </a:lvl1pPr>
            <a:lvl2pPr>
              <a:defRPr sz="1875" b="1">
                <a:solidFill>
                  <a:srgbClr val="006EAA"/>
                </a:solidFill>
              </a:defRPr>
            </a:lvl2pPr>
            <a:lvl3pPr>
              <a:defRPr sz="1875" b="1">
                <a:solidFill>
                  <a:srgbClr val="006EAA"/>
                </a:solidFill>
              </a:defRPr>
            </a:lvl3pPr>
            <a:lvl4pPr>
              <a:defRPr sz="1875" b="1">
                <a:solidFill>
                  <a:srgbClr val="006EAA"/>
                </a:solidFill>
              </a:defRPr>
            </a:lvl4pPr>
            <a:lvl5pPr>
              <a:defRPr sz="1875" b="1">
                <a:solidFill>
                  <a:srgbClr val="006EAA"/>
                </a:solidFill>
              </a:defRPr>
            </a:lvl5pPr>
            <a:lvl6pPr>
              <a:defRPr sz="1875" b="1">
                <a:solidFill>
                  <a:srgbClr val="006EAA"/>
                </a:solidFill>
              </a:defRPr>
            </a:lvl6pPr>
            <a:lvl7pPr>
              <a:defRPr sz="1875" b="1">
                <a:solidFill>
                  <a:srgbClr val="006EAA"/>
                </a:solidFill>
              </a:defRPr>
            </a:lvl7pPr>
            <a:lvl8pPr>
              <a:defRPr sz="1875" b="1">
                <a:solidFill>
                  <a:srgbClr val="006EAA"/>
                </a:solidFill>
              </a:defRPr>
            </a:lvl8pPr>
            <a:lvl9pPr>
              <a:defRPr sz="1875" b="1">
                <a:solidFill>
                  <a:srgbClr val="006EA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EAA"/>
                </a:solidFill>
              </a:defRPr>
            </a:pPr>
            <a:r>
              <a:rPr sz="1875" b="1">
                <a:solidFill>
                  <a:srgbClr val="006EA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5034F-0D7C-4EC3-A7FF-716D4C0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7"/>
                </a:solidFill>
              </a:defRPr>
            </a:defPPr>
            <a:lvl1pPr>
              <a:defRPr sz="1725" b="0">
                <a:solidFill>
                  <a:srgbClr val="243247"/>
                </a:solidFill>
              </a:defRPr>
            </a:lvl1pPr>
            <a:lvl2pPr>
              <a:defRPr sz="1725" b="0">
                <a:solidFill>
                  <a:srgbClr val="243247"/>
                </a:solidFill>
              </a:defRPr>
            </a:lvl2pPr>
            <a:lvl3pPr>
              <a:defRPr sz="1725" b="0">
                <a:solidFill>
                  <a:srgbClr val="243247"/>
                </a:solidFill>
              </a:defRPr>
            </a:lvl3pPr>
            <a:lvl4pPr>
              <a:defRPr sz="1725" b="0">
                <a:solidFill>
                  <a:srgbClr val="243247"/>
                </a:solidFill>
              </a:defRPr>
            </a:lvl4pPr>
            <a:lvl5pPr>
              <a:defRPr sz="1725" b="0">
                <a:solidFill>
                  <a:srgbClr val="243247"/>
                </a:solidFill>
              </a:defRPr>
            </a:lvl5pPr>
            <a:lvl6pPr>
              <a:defRPr sz="1725" b="0">
                <a:solidFill>
                  <a:srgbClr val="243247"/>
                </a:solidFill>
              </a:defRPr>
            </a:lvl6pPr>
            <a:lvl7pPr>
              <a:defRPr sz="1725" b="0">
                <a:solidFill>
                  <a:srgbClr val="243247"/>
                </a:solidFill>
              </a:defRPr>
            </a:lvl7pPr>
            <a:lvl8pPr>
              <a:defRPr sz="1725" b="0">
                <a:solidFill>
                  <a:srgbClr val="243247"/>
                </a:solidFill>
              </a:defRPr>
            </a:lvl8pPr>
            <a:lvl9pPr>
              <a:defRPr sz="1725" b="0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7"/>
                </a:solidFill>
              </a:defRPr>
            </a:pPr>
            <a:r>
              <a:rPr sz="1725" b="0">
                <a:solidFill>
                  <a:srgbClr val="243247"/>
                </a:solidFill>
              </a:rPr>
              <a:t>Phase 4 plans contradiction detection. Phase 5 plans append-only evidence recording and hash verification.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CB0EA-4883-4FB5-A79E-5CA4F9D1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58A10-F429-4E67-8AF9-B8F6C531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Delivered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Case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A74AB-56FE-41B1-8228-6E24265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E6759-948D-440B-9445-7C835644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Delivered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Document intelligence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69291-B226-41D7-90AE-F19DE50C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7C263-00E1-405F-ADE7-E366914E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Delivered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Statute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383DF-EC90-49E0-AC3E-01257EF3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4288">
            <a:solidFill>
              <a:srgbClr val="006E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3F34D-ECBD-4190-9740-415A184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910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247"/>
                </a:solidFill>
              </a:defRPr>
            </a:defPPr>
            <a:lvl1pPr>
              <a:defRPr sz="1650" b="1">
                <a:solidFill>
                  <a:srgbClr val="243247"/>
                </a:solidFill>
              </a:defRPr>
            </a:lvl1pPr>
            <a:lvl2pPr>
              <a:defRPr sz="1650" b="1">
                <a:solidFill>
                  <a:srgbClr val="243247"/>
                </a:solidFill>
              </a:defRPr>
            </a:lvl2pPr>
            <a:lvl3pPr>
              <a:defRPr sz="1650" b="1">
                <a:solidFill>
                  <a:srgbClr val="243247"/>
                </a:solidFill>
              </a:defRPr>
            </a:lvl3pPr>
            <a:lvl4pPr>
              <a:defRPr sz="1650" b="1">
                <a:solidFill>
                  <a:srgbClr val="243247"/>
                </a:solidFill>
              </a:defRPr>
            </a:lvl4pPr>
            <a:lvl5pPr>
              <a:defRPr sz="1650" b="1">
                <a:solidFill>
                  <a:srgbClr val="243247"/>
                </a:solidFill>
              </a:defRPr>
            </a:lvl5pPr>
            <a:lvl6pPr>
              <a:defRPr sz="1650" b="1">
                <a:solidFill>
                  <a:srgbClr val="243247"/>
                </a:solidFill>
              </a:defRPr>
            </a:lvl6pPr>
            <a:lvl7pPr>
              <a:defRPr sz="1650" b="1">
                <a:solidFill>
                  <a:srgbClr val="243247"/>
                </a:solidFill>
              </a:defRPr>
            </a:lvl7pPr>
            <a:lvl8pPr>
              <a:defRPr sz="1650" b="1">
                <a:solidFill>
                  <a:srgbClr val="243247"/>
                </a:solidFill>
              </a:defRPr>
            </a:lvl8pPr>
            <a:lvl9pPr>
              <a:defRPr sz="1650" b="1">
                <a:solidFill>
                  <a:srgbClr val="24324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Planned</a:t>
            </a:r>
          </a:p>
          <a:p xmlns:a="http://schemas.openxmlformats.org/drawingml/2006/main">
            <a:pPr>
              <a:defRPr sz="1650" b="1">
                <a:solidFill>
                  <a:srgbClr val="243247"/>
                </a:solidFill>
              </a:defRPr>
            </a:pPr>
            <a:r>
              <a:rPr sz="1650" b="1">
                <a:solidFill>
                  <a:srgbClr val="243247"/>
                </a:solidFill>
              </a:rPr>
              <a:t>Contradictions and ledger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B3D5B-9BE9-4F4D-A1FF-3878D77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74"/>
                </a:solidFill>
              </a:defRPr>
            </a:defPPr>
            <a:lvl1pPr>
              <a:defRPr sz="1425" b="0">
                <a:solidFill>
                  <a:srgbClr val="526174"/>
                </a:solidFill>
              </a:defRPr>
            </a:lvl1pPr>
            <a:lvl2pPr>
              <a:defRPr sz="1425" b="0">
                <a:solidFill>
                  <a:srgbClr val="526174"/>
                </a:solidFill>
              </a:defRPr>
            </a:lvl2pPr>
            <a:lvl3pPr>
              <a:defRPr sz="1425" b="0">
                <a:solidFill>
                  <a:srgbClr val="526174"/>
                </a:solidFill>
              </a:defRPr>
            </a:lvl3pPr>
            <a:lvl4pPr>
              <a:defRPr sz="1425" b="0">
                <a:solidFill>
                  <a:srgbClr val="526174"/>
                </a:solidFill>
              </a:defRPr>
            </a:lvl4pPr>
            <a:lvl5pPr>
              <a:defRPr sz="1425" b="0">
                <a:solidFill>
                  <a:srgbClr val="526174"/>
                </a:solidFill>
              </a:defRPr>
            </a:lvl5pPr>
            <a:lvl6pPr>
              <a:defRPr sz="1425" b="0">
                <a:solidFill>
                  <a:srgbClr val="526174"/>
                </a:solidFill>
              </a:defRPr>
            </a:lvl6pPr>
            <a:lvl7pPr>
              <a:defRPr sz="1425" b="0">
                <a:solidFill>
                  <a:srgbClr val="526174"/>
                </a:solidFill>
              </a:defRPr>
            </a:lvl7pPr>
            <a:lvl8pPr>
              <a:defRPr sz="1425" b="0">
                <a:solidFill>
                  <a:srgbClr val="526174"/>
                </a:solidFill>
              </a:defRPr>
            </a:lvl8pPr>
            <a:lvl9pPr>
              <a:defRPr sz="1425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The prototype supports legal professionals. Source review and legal judgment remain necessary.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DBF10-0693-4EA7-9D63-10F57A68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174"/>
                </a:solidFill>
              </a:defRPr>
            </a:defPPr>
            <a:lvl1pPr>
              <a:defRPr sz="1050" b="0">
                <a:solidFill>
                  <a:srgbClr val="526174"/>
                </a:solidFill>
              </a:defRPr>
            </a:lvl1pPr>
            <a:lvl2pPr>
              <a:defRPr sz="1050" b="0">
                <a:solidFill>
                  <a:srgbClr val="526174"/>
                </a:solidFill>
              </a:defRPr>
            </a:lvl2pPr>
            <a:lvl3pPr>
              <a:defRPr sz="1050" b="0">
                <a:solidFill>
                  <a:srgbClr val="526174"/>
                </a:solidFill>
              </a:defRPr>
            </a:lvl3pPr>
            <a:lvl4pPr>
              <a:defRPr sz="1050" b="0">
                <a:solidFill>
                  <a:srgbClr val="526174"/>
                </a:solidFill>
              </a:defRPr>
            </a:lvl4pPr>
            <a:lvl5pPr>
              <a:defRPr sz="1050" b="0">
                <a:solidFill>
                  <a:srgbClr val="526174"/>
                </a:solidFill>
              </a:defRPr>
            </a:lvl5pPr>
            <a:lvl6pPr>
              <a:defRPr sz="1050" b="0">
                <a:solidFill>
                  <a:srgbClr val="526174"/>
                </a:solidFill>
              </a:defRPr>
            </a:lvl6pPr>
            <a:lvl7pPr>
              <a:defRPr sz="1050" b="0">
                <a:solidFill>
                  <a:srgbClr val="526174"/>
                </a:solidFill>
              </a:defRPr>
            </a:lvl7pPr>
            <a:lvl8pPr>
              <a:defRPr sz="1050" b="0">
                <a:solidFill>
                  <a:srgbClr val="526174"/>
                </a:solidFill>
              </a:defRPr>
            </a:lvl8pPr>
            <a:lvl9pPr>
              <a:defRPr sz="10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14764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2026-10-28T18:48:06.8400000Z</dcterms:created>
  <dcterms:modified xsi:type="dcterms:W3CDTF">2026-10-28T18:48:06.8400000Z</dcterms:modified>
</coreProperties>
</file>